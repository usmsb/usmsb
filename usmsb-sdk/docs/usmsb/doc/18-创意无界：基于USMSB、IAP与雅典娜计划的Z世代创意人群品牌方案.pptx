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68200" y="98840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215022" y="372524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362684" y="2178258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383778" y="232451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962549" y="139942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637147" y="4009569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914413" y="1458497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00910" y="435155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53889" y="3640494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124539" y="3321425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93191" y="2837771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2484909" y="4750147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832760" y="4691797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066201" y="4885767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448716" y="4051176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533225" y="1736266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492051" y="4483708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840014" y="509801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728453" y="2499168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801199" y="103760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926102" y="4105508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169761" y="1211563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958083" y="1391106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320292" y="248357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552969" y="3652717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483359" y="4747245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163465" y="4842988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403702" y="3906543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428777" y="366410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8113151" y="259943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279373" y="1764506"/>
            <a:ext cx="658522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7B1F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创意无界</a:t>
            </a:r>
            <a:endParaRPr lang="en-US" sz="4050" dirty="0"/>
          </a:p>
        </p:txBody>
      </p:sp>
      <p:sp>
        <p:nvSpPr>
          <p:cNvPr id="35" name="Text 32"/>
          <p:cNvSpPr/>
          <p:nvPr/>
        </p:nvSpPr>
        <p:spPr>
          <a:xfrm>
            <a:off x="1279373" y="2707481"/>
            <a:ext cx="658522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E0E0E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基于USMSB、IAP与雅典娜计划的Z世代创意人群品牌方案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7B1F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Z世代创意浪潮与挑战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00113"/>
            <a:ext cx="42005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Z世代创意人群特征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43013"/>
            <a:ext cx="2043113" cy="61436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371600"/>
            <a:ext cx="10715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931" y="1357313"/>
            <a:ext cx="57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数字原住民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400050" y="1585913"/>
            <a:ext cx="18145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将生活融入数字，而非将数字融入生活</a:t>
            </a:r>
            <a:endParaRPr lang="en-US" sz="732" dirty="0"/>
          </a:p>
        </p:txBody>
      </p:sp>
      <p:sp>
        <p:nvSpPr>
          <p:cNvPr id="9" name="Shape 5"/>
          <p:cNvSpPr/>
          <p:nvPr/>
        </p:nvSpPr>
        <p:spPr>
          <a:xfrm>
            <a:off x="2443163" y="1243013"/>
            <a:ext cx="2043113" cy="61436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463" y="1371600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86063" y="1357313"/>
            <a:ext cx="57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多元与个性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2557463" y="1585913"/>
            <a:ext cx="18145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拒绝标签化，追求多元化生活方式和审美</a:t>
            </a:r>
            <a:endParaRPr lang="en-US" sz="732" dirty="0"/>
          </a:p>
        </p:txBody>
      </p:sp>
      <p:sp>
        <p:nvSpPr>
          <p:cNvPr id="13" name="Shape 8"/>
          <p:cNvSpPr/>
          <p:nvPr/>
        </p:nvSpPr>
        <p:spPr>
          <a:xfrm>
            <a:off x="285750" y="1957388"/>
            <a:ext cx="2043113" cy="7572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085975"/>
            <a:ext cx="178594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4369" y="2071688"/>
            <a:ext cx="57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互动与社群</a:t>
            </a:r>
            <a:endParaRPr lang="en-US" sz="837" dirty="0"/>
          </a:p>
        </p:txBody>
      </p:sp>
      <p:sp>
        <p:nvSpPr>
          <p:cNvPr id="16" name="Text 10"/>
          <p:cNvSpPr/>
          <p:nvPr/>
        </p:nvSpPr>
        <p:spPr>
          <a:xfrm>
            <a:off x="400050" y="2300288"/>
            <a:ext cx="1814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渴望双向沟通，基于共同兴趣形成圈层文化</a:t>
            </a:r>
            <a:endParaRPr lang="en-US" sz="732" dirty="0"/>
          </a:p>
        </p:txBody>
      </p:sp>
      <p:sp>
        <p:nvSpPr>
          <p:cNvPr id="17" name="Shape 11"/>
          <p:cNvSpPr/>
          <p:nvPr/>
        </p:nvSpPr>
        <p:spPr>
          <a:xfrm>
            <a:off x="2443163" y="1957388"/>
            <a:ext cx="2043113" cy="742950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463" y="2085975"/>
            <a:ext cx="178594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21781" y="2071688"/>
            <a:ext cx="457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价值导向</a:t>
            </a:r>
            <a:endParaRPr lang="en-US" sz="837" dirty="0"/>
          </a:p>
        </p:txBody>
      </p:sp>
      <p:sp>
        <p:nvSpPr>
          <p:cNvPr id="20" name="Text 13"/>
          <p:cNvSpPr/>
          <p:nvPr/>
        </p:nvSpPr>
        <p:spPr>
          <a:xfrm>
            <a:off x="2557463" y="2300288"/>
            <a:ext cx="18145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重视实际价值和性价比，而非品牌忠诚度</a:t>
            </a:r>
            <a:endParaRPr lang="en-US" sz="732" dirty="0"/>
          </a:p>
        </p:txBody>
      </p:sp>
      <p:sp>
        <p:nvSpPr>
          <p:cNvPr id="21" name="Text 14"/>
          <p:cNvSpPr/>
          <p:nvPr/>
        </p:nvSpPr>
        <p:spPr>
          <a:xfrm>
            <a:off x="4657725" y="900113"/>
            <a:ext cx="42005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创意人群核心痛点</a:t>
            </a:r>
            <a:endParaRPr lang="en-US" sz="13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1243013"/>
            <a:ext cx="4200525" cy="21431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85750" y="361473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我们的愿景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285750" y="3930848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构建</a:t>
            </a:r>
            <a:endParaRPr lang="en-US" sz="1046" dirty="0"/>
          </a:p>
        </p:txBody>
      </p:sp>
      <p:sp>
        <p:nvSpPr>
          <p:cNvPr id="25" name="Text 17"/>
          <p:cNvSpPr/>
          <p:nvPr/>
        </p:nvSpPr>
        <p:spPr>
          <a:xfrm>
            <a:off x="571500" y="3930848"/>
            <a:ext cx="1000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新创意经济生态</a:t>
            </a:r>
            <a:endParaRPr lang="en-US" sz="1046" dirty="0"/>
          </a:p>
        </p:txBody>
      </p:sp>
      <p:sp>
        <p:nvSpPr>
          <p:cNvPr id="26" name="Text 18"/>
          <p:cNvSpPr/>
          <p:nvPr/>
        </p:nvSpPr>
        <p:spPr>
          <a:xfrm>
            <a:off x="1571625" y="3930848"/>
            <a:ext cx="33678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，赋能Z世代创意人群，激活其潜能，实现创意资产的</a:t>
            </a:r>
            <a:endParaRPr lang="en-US" sz="1046" dirty="0"/>
          </a:p>
        </p:txBody>
      </p:sp>
      <p:sp>
        <p:nvSpPr>
          <p:cNvPr id="27" name="Text 19"/>
          <p:cNvSpPr/>
          <p:nvPr/>
        </p:nvSpPr>
        <p:spPr>
          <a:xfrm>
            <a:off x="4939485" y="3930848"/>
            <a:ext cx="571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自由流动</a:t>
            </a:r>
            <a:endParaRPr lang="en-US" sz="1046" dirty="0"/>
          </a:p>
        </p:txBody>
      </p:sp>
      <p:sp>
        <p:nvSpPr>
          <p:cNvPr id="28" name="Text 20"/>
          <p:cNvSpPr/>
          <p:nvPr/>
        </p:nvSpPr>
        <p:spPr>
          <a:xfrm>
            <a:off x="5510985" y="3930848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与</a:t>
            </a:r>
            <a:endParaRPr lang="en-US" sz="1046" dirty="0"/>
          </a:p>
        </p:txBody>
      </p:sp>
      <p:sp>
        <p:nvSpPr>
          <p:cNvPr id="29" name="Text 21"/>
          <p:cNvSpPr/>
          <p:nvPr/>
        </p:nvSpPr>
        <p:spPr>
          <a:xfrm>
            <a:off x="5653860" y="3930848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价值最大化</a:t>
            </a:r>
            <a:endParaRPr lang="en-US" sz="1046" dirty="0"/>
          </a:p>
        </p:txBody>
      </p:sp>
      <p:sp>
        <p:nvSpPr>
          <p:cNvPr id="30" name="Text 22"/>
          <p:cNvSpPr/>
          <p:nvPr/>
        </p:nvSpPr>
        <p:spPr>
          <a:xfrm>
            <a:off x="6368235" y="3930848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04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2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7B1F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USMSB模型：创意经济的理论基石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0011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USMSB概述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14438"/>
            <a:ext cx="417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社会行为的通用系统模型，强调核心要素及其动态交互，为创意经济提供统一的分析框架。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285750" y="1728788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核心逻辑循环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85750" y="2050256"/>
            <a:ext cx="759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目标-行动-结果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1045164" y="2050256"/>
            <a:ext cx="2857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：设定创意目标、采取行动、产生结果，并根据结果调整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285750" y="2278856"/>
            <a:ext cx="759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资源-转化-价值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1045164" y="2278856"/>
            <a:ext cx="2400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：投入创意资源，经过转化过程，实现价值创造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285750" y="2507456"/>
            <a:ext cx="759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信息-决策-控制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1045164" y="2507456"/>
            <a:ext cx="2057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：基于市场信息做出决策，指导创意行动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285750" y="2736056"/>
            <a:ext cx="7226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系统-环境互动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1008357" y="2736056"/>
            <a:ext cx="1943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：创意生态与外部环境持续互动与适应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285750" y="307181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在创意经济中的应用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85750" y="3386138"/>
            <a:ext cx="1333481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1475" y="3471863"/>
            <a:ext cx="1162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主体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371475" y="3643313"/>
            <a:ext cx="11620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Z世代创意人群及其AI经济代理</a:t>
            </a:r>
            <a:endParaRPr lang="en-US" sz="732" dirty="0"/>
          </a:p>
        </p:txBody>
      </p:sp>
      <p:sp>
        <p:nvSpPr>
          <p:cNvPr id="19" name="Shape 16"/>
          <p:cNvSpPr/>
          <p:nvPr/>
        </p:nvSpPr>
        <p:spPr>
          <a:xfrm>
            <a:off x="1704956" y="3386138"/>
            <a:ext cx="1333509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90681" y="3471863"/>
            <a:ext cx="11620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1790681" y="3643313"/>
            <a:ext cx="11620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创意实现、价值变现、社群协作</a:t>
            </a:r>
            <a:endParaRPr lang="en-US" sz="732" dirty="0"/>
          </a:p>
        </p:txBody>
      </p:sp>
      <p:sp>
        <p:nvSpPr>
          <p:cNvPr id="22" name="Shape 19"/>
          <p:cNvSpPr/>
          <p:nvPr/>
        </p:nvSpPr>
        <p:spPr>
          <a:xfrm>
            <a:off x="3124191" y="3386138"/>
            <a:ext cx="1333509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9916" y="3471863"/>
            <a:ext cx="11620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资源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3209916" y="3643313"/>
            <a:ext cx="11620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创意作品、技能、时间、数字资产</a:t>
            </a:r>
            <a:endParaRPr lang="en-US" sz="732" dirty="0"/>
          </a:p>
        </p:txBody>
      </p:sp>
      <p:sp>
        <p:nvSpPr>
          <p:cNvPr id="25" name="Shape 22"/>
          <p:cNvSpPr/>
          <p:nvPr/>
        </p:nvSpPr>
        <p:spPr>
          <a:xfrm>
            <a:off x="285750" y="4100513"/>
            <a:ext cx="1333481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1475" y="4186238"/>
            <a:ext cx="1162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客体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371475" y="4357688"/>
            <a:ext cx="11620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创意项目、数字版权、服务需求</a:t>
            </a:r>
            <a:endParaRPr lang="en-US" sz="732" dirty="0"/>
          </a:p>
        </p:txBody>
      </p:sp>
      <p:sp>
        <p:nvSpPr>
          <p:cNvPr id="28" name="Shape 25"/>
          <p:cNvSpPr/>
          <p:nvPr/>
        </p:nvSpPr>
        <p:spPr>
          <a:xfrm>
            <a:off x="1704956" y="4100513"/>
            <a:ext cx="1333509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90681" y="4186238"/>
            <a:ext cx="11620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规则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1790681" y="4357688"/>
            <a:ext cx="11620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IAP协议、智能合约、社区治理</a:t>
            </a:r>
            <a:endParaRPr lang="en-US" sz="732" dirty="0"/>
          </a:p>
        </p:txBody>
      </p:sp>
      <p:sp>
        <p:nvSpPr>
          <p:cNvPr id="31" name="Shape 28"/>
          <p:cNvSpPr/>
          <p:nvPr/>
        </p:nvSpPr>
        <p:spPr>
          <a:xfrm>
            <a:off x="3124191" y="4100513"/>
            <a:ext cx="1333509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9916" y="4186238"/>
            <a:ext cx="11620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信息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3209916" y="4357688"/>
            <a:ext cx="11620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市场趋势、估值数据、需求匹配</a:t>
            </a:r>
            <a:endParaRPr lang="en-US" sz="732" dirty="0"/>
          </a:p>
        </p:txBody>
      </p:sp>
      <p:sp>
        <p:nvSpPr>
          <p:cNvPr id="34" name="Shape 31"/>
          <p:cNvSpPr/>
          <p:nvPr/>
        </p:nvSpPr>
        <p:spPr>
          <a:xfrm>
            <a:off x="285750" y="4814888"/>
            <a:ext cx="1333481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1475" y="4900613"/>
            <a:ext cx="1162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价值</a:t>
            </a:r>
            <a:endParaRPr lang="en-US" sz="837" dirty="0"/>
          </a:p>
        </p:txBody>
      </p:sp>
      <p:sp>
        <p:nvSpPr>
          <p:cNvPr id="36" name="Text 33"/>
          <p:cNvSpPr/>
          <p:nvPr/>
        </p:nvSpPr>
        <p:spPr>
          <a:xfrm>
            <a:off x="371475" y="5072063"/>
            <a:ext cx="11620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创意变现、效率提升、影响力</a:t>
            </a:r>
            <a:endParaRPr lang="en-US" sz="732" dirty="0"/>
          </a:p>
        </p:txBody>
      </p:sp>
      <p:sp>
        <p:nvSpPr>
          <p:cNvPr id="37" name="Shape 34"/>
          <p:cNvSpPr/>
          <p:nvPr/>
        </p:nvSpPr>
        <p:spPr>
          <a:xfrm>
            <a:off x="1704956" y="4814888"/>
            <a:ext cx="1333509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790681" y="4900613"/>
            <a:ext cx="11620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风险</a:t>
            </a:r>
            <a:endParaRPr lang="en-US" sz="837" dirty="0"/>
          </a:p>
        </p:txBody>
      </p:sp>
      <p:sp>
        <p:nvSpPr>
          <p:cNvPr id="39" name="Text 36"/>
          <p:cNvSpPr/>
          <p:nvPr/>
        </p:nvSpPr>
        <p:spPr>
          <a:xfrm>
            <a:off x="1790681" y="5072063"/>
            <a:ext cx="11620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版权侵犯、价值低估、协作失败</a:t>
            </a:r>
            <a:endParaRPr lang="en-US" sz="732" dirty="0"/>
          </a:p>
        </p:txBody>
      </p:sp>
      <p:sp>
        <p:nvSpPr>
          <p:cNvPr id="40" name="Shape 37"/>
          <p:cNvSpPr/>
          <p:nvPr/>
        </p:nvSpPr>
        <p:spPr>
          <a:xfrm>
            <a:off x="3124191" y="4814888"/>
            <a:ext cx="1333509" cy="6429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09916" y="4900613"/>
            <a:ext cx="11620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环境</a:t>
            </a:r>
            <a:endParaRPr lang="en-US" sz="837" dirty="0"/>
          </a:p>
        </p:txBody>
      </p:sp>
      <p:sp>
        <p:nvSpPr>
          <p:cNvPr id="42" name="Text 39"/>
          <p:cNvSpPr/>
          <p:nvPr/>
        </p:nvSpPr>
        <p:spPr>
          <a:xfrm>
            <a:off x="3209916" y="5072063"/>
            <a:ext cx="11620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数字创意市场、Web3生态</a:t>
            </a:r>
            <a:endParaRPr lang="en-US" sz="732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892" y="1915474"/>
            <a:ext cx="3754738" cy="2512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7B1F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IAP：智能激活协议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0011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定义与原则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21581"/>
            <a:ext cx="523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IAP是一个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809588" y="1221581"/>
            <a:ext cx="1371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开源的、去中心化的协议层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2181188" y="1221581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，旨在成为数字原生经济的基础设施，解决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285750" y="1393031"/>
            <a:ext cx="22439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创意资产的"价值冻结"与"流动性缺失"问题。</a:t>
            </a:r>
            <a:endParaRPr lang="en-US" sz="837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68066"/>
            <a:ext cx="85725" cy="857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344" y="1621631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绝对技术驱动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1144144" y="1621631"/>
            <a:ext cx="2514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：依靠算法、密码学和物联网实现自动化价值发现</a:t>
            </a:r>
            <a:endParaRPr lang="en-US" sz="837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896666"/>
            <a:ext cx="85725" cy="857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8344" y="1850231"/>
            <a:ext cx="800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服务数字原生代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258444" y="1850231"/>
            <a:ext cx="22649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：为程序员、设计师等群体提供"极客级"工具</a:t>
            </a:r>
            <a:endParaRPr lang="en-US" sz="837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125266"/>
            <a:ext cx="85725" cy="857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8344" y="2078831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解决本质问题</a:t>
            </a:r>
            <a:endParaRPr lang="en-US" sz="837" dirty="0"/>
          </a:p>
        </p:txBody>
      </p:sp>
      <p:sp>
        <p:nvSpPr>
          <p:cNvPr id="17" name="Text 11"/>
          <p:cNvSpPr/>
          <p:nvPr/>
        </p:nvSpPr>
        <p:spPr>
          <a:xfrm>
            <a:off x="1144144" y="2078831"/>
            <a:ext cx="2400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：直指价值冻结和流动性缺失的经济学核心矛盾</a:t>
            </a:r>
            <a:endParaRPr lang="en-US" sz="837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353866"/>
            <a:ext cx="85725" cy="857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8344" y="2307431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无中介化</a:t>
            </a:r>
            <a:endParaRPr lang="en-US" sz="837" dirty="0"/>
          </a:p>
        </p:txBody>
      </p:sp>
      <p:sp>
        <p:nvSpPr>
          <p:cNvPr id="20" name="Text 13"/>
          <p:cNvSpPr/>
          <p:nvPr/>
        </p:nvSpPr>
        <p:spPr>
          <a:xfrm>
            <a:off x="915544" y="2307431"/>
            <a:ext cx="24148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：取消传统平台抽佣模式，赋能智能服务体(ISA)</a:t>
            </a:r>
            <a:endParaRPr lang="en-US" sz="837" dirty="0"/>
          </a:p>
        </p:txBody>
      </p:sp>
      <p:sp>
        <p:nvSpPr>
          <p:cNvPr id="21" name="Text 14"/>
          <p:cNvSpPr/>
          <p:nvPr/>
        </p:nvSpPr>
        <p:spPr>
          <a:xfrm>
            <a:off x="285750" y="2643188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在创意领域的应用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285750" y="2957513"/>
            <a:ext cx="2028825" cy="8715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00050" y="3071813"/>
            <a:ext cx="1800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动态价值发现引擎</a:t>
            </a:r>
            <a:endParaRPr lang="en-US" sz="837" dirty="0"/>
          </a:p>
        </p:txBody>
      </p:sp>
      <p:sp>
        <p:nvSpPr>
          <p:cNvPr id="24" name="Text 17"/>
          <p:cNvSpPr/>
          <p:nvPr/>
        </p:nvSpPr>
        <p:spPr>
          <a:xfrm>
            <a:off x="400050" y="3271838"/>
            <a:ext cx="18002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为非标创意资产（设计稿、代码模块、音乐片段）生成动态估值，打破传统定价模型</a:t>
            </a:r>
            <a:endParaRPr lang="en-US" sz="732" dirty="0"/>
          </a:p>
        </p:txBody>
      </p:sp>
      <p:sp>
        <p:nvSpPr>
          <p:cNvPr id="25" name="Shape 18"/>
          <p:cNvSpPr/>
          <p:nvPr/>
        </p:nvSpPr>
        <p:spPr>
          <a:xfrm>
            <a:off x="2428875" y="2957513"/>
            <a:ext cx="2028825" cy="857250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543175" y="3071813"/>
            <a:ext cx="1800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流动性碎片化协议</a:t>
            </a:r>
            <a:endParaRPr lang="en-US" sz="837" dirty="0"/>
          </a:p>
        </p:txBody>
      </p:sp>
      <p:sp>
        <p:nvSpPr>
          <p:cNvPr id="27" name="Text 20"/>
          <p:cNvSpPr/>
          <p:nvPr/>
        </p:nvSpPr>
        <p:spPr>
          <a:xfrm>
            <a:off x="2543175" y="3271838"/>
            <a:ext cx="1800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将高价值创意资产（如IP版权）碎片化为NFT进行微投资和交易</a:t>
            </a:r>
            <a:endParaRPr lang="en-US" sz="732" dirty="0"/>
          </a:p>
        </p:txBody>
      </p:sp>
      <p:sp>
        <p:nvSpPr>
          <p:cNvPr id="28" name="Shape 21"/>
          <p:cNvSpPr/>
          <p:nvPr/>
        </p:nvSpPr>
        <p:spPr>
          <a:xfrm>
            <a:off x="285750" y="3929063"/>
            <a:ext cx="2028825" cy="72866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00050" y="4043363"/>
            <a:ext cx="1800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zk-信用通行证</a:t>
            </a:r>
            <a:endParaRPr lang="en-US" sz="837" dirty="0"/>
          </a:p>
        </p:txBody>
      </p:sp>
      <p:sp>
        <p:nvSpPr>
          <p:cNvPr id="30" name="Text 23"/>
          <p:cNvSpPr/>
          <p:nvPr/>
        </p:nvSpPr>
        <p:spPr>
          <a:xfrm>
            <a:off x="400050" y="4243388"/>
            <a:ext cx="1800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创意人群无需暴露原始数据即可证明其技能水平、项目经验、信誉</a:t>
            </a:r>
            <a:endParaRPr lang="en-US" sz="732" dirty="0"/>
          </a:p>
        </p:txBody>
      </p:sp>
      <p:sp>
        <p:nvSpPr>
          <p:cNvPr id="31" name="Shape 24"/>
          <p:cNvSpPr/>
          <p:nvPr/>
        </p:nvSpPr>
        <p:spPr>
          <a:xfrm>
            <a:off x="2428875" y="3929063"/>
            <a:ext cx="2028825" cy="72866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543175" y="4043363"/>
            <a:ext cx="1800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联合订单合约</a:t>
            </a:r>
            <a:endParaRPr lang="en-US" sz="837" dirty="0"/>
          </a:p>
        </p:txBody>
      </p:sp>
      <p:sp>
        <p:nvSpPr>
          <p:cNvPr id="33" name="Text 26"/>
          <p:cNvSpPr/>
          <p:nvPr/>
        </p:nvSpPr>
        <p:spPr>
          <a:xfrm>
            <a:off x="2543175" y="4243388"/>
            <a:ext cx="1800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聚合分散的创意需求（如UI设计、音乐制作），向B端反向竞价</a:t>
            </a:r>
            <a:endParaRPr lang="en-US" sz="732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892" y="1515424"/>
            <a:ext cx="3754738" cy="2512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7B1F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雅典娜计划：分布式AI经济大脑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0011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定义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21581"/>
            <a:ext cx="19405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雅典娜不是中心化的AI平台，而是一个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2226339" y="1221581"/>
            <a:ext cx="10296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分布式AI智能体网络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3255959" y="1221581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。任何开发者都可以基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285750" y="1393031"/>
            <a:ext cx="28549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于开源的雅典娜核心框架，开发垂直领域的专业AI代理。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285750" y="1728788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核心特征在创意领域的应用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85750" y="2043113"/>
            <a:ext cx="4171950" cy="95726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2157413"/>
            <a:ext cx="3943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自主经济代理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400050" y="2386013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每个创意人拥有AI驱动的"数字分身"，理解其创作目标、资源约束和风险偏好。</a:t>
            </a:r>
            <a:endParaRPr lang="en-US" sz="732" dirty="0"/>
          </a:p>
        </p:txBody>
      </p:sp>
      <p:sp>
        <p:nvSpPr>
          <p:cNvPr id="13" name="Shape 10"/>
          <p:cNvSpPr/>
          <p:nvPr/>
        </p:nvSpPr>
        <p:spPr>
          <a:xfrm>
            <a:off x="400050" y="2586038"/>
            <a:ext cx="3943350" cy="285750"/>
          </a:xfrm>
          <a:prstGeom prst="rect">
            <a:avLst/>
          </a:prstGeom>
          <a:solidFill>
            <a:srgbClr val="7B1FA2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00050" y="2586038"/>
            <a:ext cx="21431" cy="28575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5" name="Text 12"/>
          <p:cNvSpPr/>
          <p:nvPr/>
        </p:nvSpPr>
        <p:spPr>
          <a:xfrm>
            <a:off x="485775" y="2586038"/>
            <a:ext cx="3857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例如：AI代理自动匹配任务、优化作品发布策略、管理版权，为创作者提供最优决策建议。</a:t>
            </a:r>
            <a:endParaRPr lang="en-US" sz="732" dirty="0"/>
          </a:p>
        </p:txBody>
      </p:sp>
      <p:sp>
        <p:nvSpPr>
          <p:cNvPr id="16" name="Shape 13"/>
          <p:cNvSpPr/>
          <p:nvPr/>
        </p:nvSpPr>
        <p:spPr>
          <a:xfrm>
            <a:off x="285750" y="3100388"/>
            <a:ext cx="4171950" cy="95726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0050" y="3214688"/>
            <a:ext cx="3943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博弈与优化能力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400050" y="3443288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雅典娜智能体能为创意人进行复杂的多目标优化和博弈决策。</a:t>
            </a:r>
            <a:endParaRPr lang="en-US" sz="732" dirty="0"/>
          </a:p>
        </p:txBody>
      </p:sp>
      <p:sp>
        <p:nvSpPr>
          <p:cNvPr id="19" name="Shape 16"/>
          <p:cNvSpPr/>
          <p:nvPr/>
        </p:nvSpPr>
        <p:spPr>
          <a:xfrm>
            <a:off x="400050" y="3643313"/>
            <a:ext cx="3943350" cy="285750"/>
          </a:xfrm>
          <a:prstGeom prst="rect">
            <a:avLst/>
          </a:prstGeom>
          <a:solidFill>
            <a:srgbClr val="7B1FA2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00050" y="3643313"/>
            <a:ext cx="21431" cy="28575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1" name="Text 18"/>
          <p:cNvSpPr/>
          <p:nvPr/>
        </p:nvSpPr>
        <p:spPr>
          <a:xfrm>
            <a:off x="485775" y="3643313"/>
            <a:ext cx="3857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例如：自动调整作品定价、优化项目投标策略以实现收益最大化，平衡短期收益与长期声誉。</a:t>
            </a:r>
            <a:endParaRPr lang="en-US" sz="732" dirty="0"/>
          </a:p>
        </p:txBody>
      </p:sp>
      <p:sp>
        <p:nvSpPr>
          <p:cNvPr id="22" name="Shape 19"/>
          <p:cNvSpPr/>
          <p:nvPr/>
        </p:nvSpPr>
        <p:spPr>
          <a:xfrm>
            <a:off x="285750" y="4157663"/>
            <a:ext cx="4171950" cy="95726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0050" y="4271963"/>
            <a:ext cx="3943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网络化协同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400050" y="4500563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不同创意人的AI代理之间直接通信、协商和达成合作，自发形成临时性的"创意共同体"。</a:t>
            </a:r>
            <a:endParaRPr lang="en-US" sz="732" dirty="0"/>
          </a:p>
        </p:txBody>
      </p:sp>
      <p:sp>
        <p:nvSpPr>
          <p:cNvPr id="25" name="Shape 22"/>
          <p:cNvSpPr/>
          <p:nvPr/>
        </p:nvSpPr>
        <p:spPr>
          <a:xfrm>
            <a:off x="400050" y="4700588"/>
            <a:ext cx="3943350" cy="285750"/>
          </a:xfrm>
          <a:prstGeom prst="rect">
            <a:avLst/>
          </a:prstGeom>
          <a:solidFill>
            <a:srgbClr val="7B1FA2">
              <a:alpha val="2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00050" y="4700588"/>
            <a:ext cx="21431" cy="28575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7" name="Text 24"/>
          <p:cNvSpPr/>
          <p:nvPr/>
        </p:nvSpPr>
        <p:spPr>
          <a:xfrm>
            <a:off x="485775" y="4700588"/>
            <a:ext cx="3857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例如：共同发起"联合订单"完成大型跨领域项目，或拼团购买昂贵的设计软件/渲染服务。</a:t>
            </a:r>
            <a:endParaRPr lang="en-US" sz="732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892" y="1829749"/>
            <a:ext cx="3754738" cy="2512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7B1F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品牌方案核心策略：赋能、连接、变现、共创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900113"/>
            <a:ext cx="4171950" cy="124301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1157288"/>
            <a:ext cx="128588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128713"/>
            <a:ext cx="17304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赋能 (Empowerment)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7338"/>
            <a:ext cx="114300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7225" y="153590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技术赋能</a:t>
            </a:r>
            <a:endParaRPr lang="en-US" sz="837" dirty="0"/>
          </a:p>
        </p:txBody>
      </p:sp>
      <p:sp>
        <p:nvSpPr>
          <p:cNvPr id="9" name="Text 4"/>
          <p:cNvSpPr/>
          <p:nvPr/>
        </p:nvSpPr>
        <p:spPr>
          <a:xfrm>
            <a:off x="1114425" y="1535906"/>
            <a:ext cx="29216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：提供IAP协议和雅典娜AI工具，降低创作门槛，提升效率 </a:t>
            </a:r>
            <a:endParaRPr lang="en-US" sz="83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14513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7225" y="1793081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知识赋能</a:t>
            </a:r>
            <a:endParaRPr lang="en-US" sz="837" dirty="0"/>
          </a:p>
        </p:txBody>
      </p:sp>
      <p:sp>
        <p:nvSpPr>
          <p:cNvPr id="12" name="Text 6"/>
          <p:cNvSpPr/>
          <p:nvPr/>
        </p:nvSpPr>
        <p:spPr>
          <a:xfrm>
            <a:off x="1114425" y="1793081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：提供市场洞察、趋势分析、技能提升资源 </a:t>
            </a:r>
            <a:endParaRPr lang="en-US" sz="837" dirty="0"/>
          </a:p>
        </p:txBody>
      </p:sp>
      <p:sp>
        <p:nvSpPr>
          <p:cNvPr id="13" name="Shape 7"/>
          <p:cNvSpPr/>
          <p:nvPr/>
        </p:nvSpPr>
        <p:spPr>
          <a:xfrm>
            <a:off x="285750" y="2300288"/>
            <a:ext cx="4171950" cy="124301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4" y="2557463"/>
            <a:ext cx="214313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2528888"/>
            <a:ext cx="14525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连接 (Connection)</a:t>
            </a:r>
            <a:endParaRPr lang="en-US" sz="13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57513"/>
            <a:ext cx="114300" cy="1143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57225" y="2936081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社群连接</a:t>
            </a:r>
            <a:endParaRPr lang="en-US" sz="837" dirty="0"/>
          </a:p>
        </p:txBody>
      </p:sp>
      <p:sp>
        <p:nvSpPr>
          <p:cNvPr id="18" name="Text 10"/>
          <p:cNvSpPr/>
          <p:nvPr/>
        </p:nvSpPr>
        <p:spPr>
          <a:xfrm>
            <a:off x="1114425" y="2936081"/>
            <a:ext cx="2857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：构建基于共同兴趣和项目的创意社群，促进交流与协作 </a:t>
            </a:r>
            <a:endParaRPr lang="en-US" sz="837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214688"/>
            <a:ext cx="114300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57225" y="319325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供需连接</a:t>
            </a:r>
            <a:endParaRPr lang="en-US" sz="837" dirty="0"/>
          </a:p>
        </p:txBody>
      </p:sp>
      <p:sp>
        <p:nvSpPr>
          <p:cNvPr id="21" name="Text 12"/>
          <p:cNvSpPr/>
          <p:nvPr/>
        </p:nvSpPr>
        <p:spPr>
          <a:xfrm>
            <a:off x="1114425" y="3193256"/>
            <a:ext cx="22383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：通过IAP联合订单机制，精准匹配创意供需 </a:t>
            </a:r>
            <a:endParaRPr lang="en-US" sz="837" dirty="0"/>
          </a:p>
        </p:txBody>
      </p:sp>
      <p:sp>
        <p:nvSpPr>
          <p:cNvPr id="22" name="Shape 13"/>
          <p:cNvSpPr/>
          <p:nvPr/>
        </p:nvSpPr>
        <p:spPr>
          <a:xfrm>
            <a:off x="4686300" y="900113"/>
            <a:ext cx="4171950" cy="1414463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3475" y="1157288"/>
            <a:ext cx="171450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14950" y="1128713"/>
            <a:ext cx="16090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变现 (Monetization)</a:t>
            </a:r>
            <a:endParaRPr lang="en-US" sz="13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1557338"/>
            <a:ext cx="114300" cy="1143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57775" y="153590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资产激活</a:t>
            </a:r>
            <a:endParaRPr lang="en-US" sz="837" dirty="0"/>
          </a:p>
        </p:txBody>
      </p:sp>
      <p:sp>
        <p:nvSpPr>
          <p:cNvPr id="27" name="Text 16"/>
          <p:cNvSpPr/>
          <p:nvPr/>
        </p:nvSpPr>
        <p:spPr>
          <a:xfrm>
            <a:off x="5514975" y="1535906"/>
            <a:ext cx="22383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：通过IAP动态估值和碎片化，盘活创意资产 </a:t>
            </a:r>
            <a:endParaRPr lang="en-US" sz="837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1814513"/>
            <a:ext cx="114300" cy="1143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057775" y="1793081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多元收益</a:t>
            </a:r>
            <a:endParaRPr lang="en-US" sz="837" dirty="0"/>
          </a:p>
        </p:txBody>
      </p:sp>
      <p:sp>
        <p:nvSpPr>
          <p:cNvPr id="30" name="Text 18"/>
          <p:cNvSpPr/>
          <p:nvPr/>
        </p:nvSpPr>
        <p:spPr>
          <a:xfrm>
            <a:off x="5514975" y="1793081"/>
            <a:ext cx="3086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：提供作品销售、项目承接、技能变现、数据贡献激励等多种</a:t>
            </a:r>
            <a:endParaRPr lang="en-US" sz="837" dirty="0"/>
          </a:p>
        </p:txBody>
      </p:sp>
      <p:sp>
        <p:nvSpPr>
          <p:cNvPr id="31" name="Text 19"/>
          <p:cNvSpPr/>
          <p:nvPr/>
        </p:nvSpPr>
        <p:spPr>
          <a:xfrm>
            <a:off x="5057775" y="1964531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收益模式 </a:t>
            </a:r>
            <a:endParaRPr lang="en-US" sz="837" dirty="0"/>
          </a:p>
        </p:txBody>
      </p:sp>
      <p:sp>
        <p:nvSpPr>
          <p:cNvPr id="32" name="Shape 20"/>
          <p:cNvSpPr/>
          <p:nvPr/>
        </p:nvSpPr>
        <p:spPr>
          <a:xfrm>
            <a:off x="4686300" y="2471738"/>
            <a:ext cx="4171950" cy="115728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2044" y="2728913"/>
            <a:ext cx="214313" cy="17145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314950" y="2700338"/>
            <a:ext cx="14602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共创 (Co-creation)</a:t>
            </a:r>
            <a:endParaRPr lang="en-US" sz="13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3128963"/>
            <a:ext cx="114300" cy="1143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057775" y="3107531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数字经济体不是来消费的，是来参与共创的</a:t>
            </a:r>
            <a:endParaRPr lang="en-US" sz="837" dirty="0"/>
          </a:p>
        </p:txBody>
      </p:sp>
      <p:sp>
        <p:nvSpPr>
          <p:cNvPr id="37" name="Text 23"/>
          <p:cNvSpPr/>
          <p:nvPr/>
        </p:nvSpPr>
        <p:spPr>
          <a:xfrm>
            <a:off x="7229475" y="3107531"/>
            <a:ext cx="1371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：鼓励用户深度参与协议和</a:t>
            </a:r>
            <a:endParaRPr lang="en-US" sz="837" dirty="0"/>
          </a:p>
        </p:txBody>
      </p:sp>
      <p:sp>
        <p:nvSpPr>
          <p:cNvPr id="38" name="Text 24"/>
          <p:cNvSpPr/>
          <p:nvPr/>
        </p:nvSpPr>
        <p:spPr>
          <a:xfrm>
            <a:off x="5057775" y="3278981"/>
            <a:ext cx="1257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生态建设，共同塑造未来 </a:t>
            </a:r>
            <a:endParaRPr lang="en-US" sz="837" dirty="0"/>
          </a:p>
        </p:txBody>
      </p:sp>
      <p:sp>
        <p:nvSpPr>
          <p:cNvPr id="39" name="Text 25"/>
          <p:cNvSpPr/>
          <p:nvPr/>
        </p:nvSpPr>
        <p:spPr>
          <a:xfrm>
            <a:off x="1043825" y="3616523"/>
            <a:ext cx="40822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我们不仅仅是一个平台，更是一个为Z世代创意人群量身打造的、</a:t>
            </a:r>
            <a:endParaRPr lang="en-US" sz="1046" dirty="0"/>
          </a:p>
        </p:txBody>
      </p:sp>
      <p:sp>
        <p:nvSpPr>
          <p:cNvPr id="40" name="Text 26"/>
          <p:cNvSpPr/>
          <p:nvPr/>
        </p:nvSpPr>
        <p:spPr>
          <a:xfrm>
            <a:off x="5126059" y="3616523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技术驱动的</a:t>
            </a:r>
            <a:endParaRPr lang="en-US" sz="1046" dirty="0"/>
          </a:p>
        </p:txBody>
      </p:sp>
      <p:sp>
        <p:nvSpPr>
          <p:cNvPr id="41" name="Text 27"/>
          <p:cNvSpPr/>
          <p:nvPr/>
        </p:nvSpPr>
        <p:spPr>
          <a:xfrm>
            <a:off x="5840434" y="3616523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endParaRPr lang="en-US" sz="1046" dirty="0"/>
          </a:p>
        </p:txBody>
      </p:sp>
      <p:sp>
        <p:nvSpPr>
          <p:cNvPr id="42" name="Text 28"/>
          <p:cNvSpPr/>
          <p:nvPr/>
        </p:nvSpPr>
        <p:spPr>
          <a:xfrm>
            <a:off x="5983309" y="3616523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去中心化的</a:t>
            </a:r>
            <a:endParaRPr lang="en-US" sz="1046" dirty="0"/>
          </a:p>
        </p:txBody>
      </p:sp>
      <p:sp>
        <p:nvSpPr>
          <p:cNvPr id="43" name="Text 29"/>
          <p:cNvSpPr/>
          <p:nvPr/>
        </p:nvSpPr>
        <p:spPr>
          <a:xfrm>
            <a:off x="6697684" y="3616523"/>
            <a:ext cx="1402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"新创意经济操作系统"</a:t>
            </a:r>
            <a:endParaRPr lang="en-US" sz="10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7B1F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营销与运营：技术布道与生态共建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4296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目标用户群体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157288"/>
            <a:ext cx="41719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B端：从"上平台"到"入协议"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414338" y="1414463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技术布道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414338" y="1621631"/>
            <a:ext cx="40433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通过开发者大会、技术论坛吸引技术驱动型B端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414338" y="1871663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API服务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14338" y="2078831"/>
            <a:ext cx="40433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提供强大、稳定的技术工具和API</a:t>
            </a:r>
            <a:endParaRPr lang="en-US" sz="732" dirty="0"/>
          </a:p>
        </p:txBody>
      </p:sp>
      <p:sp>
        <p:nvSpPr>
          <p:cNvPr id="10" name="Text 7"/>
          <p:cNvSpPr/>
          <p:nvPr/>
        </p:nvSpPr>
        <p:spPr>
          <a:xfrm>
            <a:off x="414338" y="2328863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ISA智能服务体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414338" y="2536031"/>
            <a:ext cx="40433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由AI智能体+少量专家人类构成，在IAP协议上运行的去中心化服务节点，负责服务B端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285750" y="2793206"/>
            <a:ext cx="41719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C端：从"消费者"到"自主经济节点"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414338" y="3050381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更智能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414338" y="3257550"/>
            <a:ext cx="40433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AI代理接管繁琐操作，提升效率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414338" y="3507581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F2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更自主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414338" y="3714750"/>
            <a:ext cx="40433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用户设定目标和规则，AI执行</a:t>
            </a:r>
            <a:endParaRPr lang="en-US" sz="732" dirty="0"/>
          </a:p>
        </p:txBody>
      </p:sp>
      <p:sp>
        <p:nvSpPr>
          <p:cNvPr id="17" name="Text 14"/>
          <p:cNvSpPr/>
          <p:nvPr/>
        </p:nvSpPr>
        <p:spPr>
          <a:xfrm>
            <a:off x="4686300" y="84296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四步走路线图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686300" y="1157288"/>
            <a:ext cx="2028825" cy="5286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72025" y="1243013"/>
            <a:ext cx="200025" cy="200025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0" name="Text 17"/>
          <p:cNvSpPr/>
          <p:nvPr/>
        </p:nvSpPr>
        <p:spPr>
          <a:xfrm>
            <a:off x="4772025" y="12430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5057775" y="1257300"/>
            <a:ext cx="685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发布技术宣言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5057775" y="1471613"/>
            <a:ext cx="1571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发布白皮书和开源核心组件</a:t>
            </a:r>
            <a:endParaRPr lang="en-US" sz="628" dirty="0"/>
          </a:p>
        </p:txBody>
      </p:sp>
      <p:sp>
        <p:nvSpPr>
          <p:cNvPr id="23" name="Shape 20"/>
          <p:cNvSpPr/>
          <p:nvPr/>
        </p:nvSpPr>
        <p:spPr>
          <a:xfrm>
            <a:off x="6829425" y="1157288"/>
            <a:ext cx="2028825" cy="5286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15150" y="1243013"/>
            <a:ext cx="200025" cy="200025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5" name="Text 22"/>
          <p:cNvSpPr/>
          <p:nvPr/>
        </p:nvSpPr>
        <p:spPr>
          <a:xfrm>
            <a:off x="6915150" y="12430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7200900" y="1257300"/>
            <a:ext cx="57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众筹数据集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7200900" y="1471613"/>
            <a:ext cx="1571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构建高质量的资产评估数据集</a:t>
            </a:r>
            <a:endParaRPr lang="en-US" sz="628" dirty="0"/>
          </a:p>
        </p:txBody>
      </p:sp>
      <p:sp>
        <p:nvSpPr>
          <p:cNvPr id="28" name="Shape 25"/>
          <p:cNvSpPr/>
          <p:nvPr/>
        </p:nvSpPr>
        <p:spPr>
          <a:xfrm>
            <a:off x="4686300" y="1800225"/>
            <a:ext cx="2028825" cy="5286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72025" y="1885950"/>
            <a:ext cx="200025" cy="200025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0" name="Text 27"/>
          <p:cNvSpPr/>
          <p:nvPr/>
        </p:nvSpPr>
        <p:spPr>
          <a:xfrm>
            <a:off x="4772025" y="188595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5057775" y="1900238"/>
            <a:ext cx="4066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孵化ISA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5057775" y="2114550"/>
            <a:ext cx="1571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招募智能服务体，举办黑客松</a:t>
            </a:r>
            <a:endParaRPr lang="en-US" sz="628" dirty="0"/>
          </a:p>
        </p:txBody>
      </p:sp>
      <p:sp>
        <p:nvSpPr>
          <p:cNvPr id="33" name="Shape 30"/>
          <p:cNvSpPr/>
          <p:nvPr/>
        </p:nvSpPr>
        <p:spPr>
          <a:xfrm>
            <a:off x="6829425" y="1800225"/>
            <a:ext cx="2028825" cy="5286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915150" y="1871663"/>
            <a:ext cx="200025" cy="200025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5" name="Text 32"/>
          <p:cNvSpPr/>
          <p:nvPr/>
        </p:nvSpPr>
        <p:spPr>
          <a:xfrm>
            <a:off x="6915150" y="18716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36" name="Text 33"/>
          <p:cNvSpPr/>
          <p:nvPr/>
        </p:nvSpPr>
        <p:spPr>
          <a:xfrm>
            <a:off x="7200900" y="1885950"/>
            <a:ext cx="457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价值捕获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7200900" y="2100263"/>
            <a:ext cx="1571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对关键操作收取极低手续费</a:t>
            </a:r>
            <a:endParaRPr lang="en-US" sz="628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443163"/>
            <a:ext cx="41719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59208" y="2844664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380430" y="3351061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295488" y="4921346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8023715" y="1014636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80272" y="3468849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47309" y="4218691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801298" y="4500228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716632" y="5046445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9370870" y="1968857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246150" y="5128431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966133" y="3642671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36758" y="2097305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030958" y="164613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607775" y="228011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087757" y="280205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595051" y="3485480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306717" y="5336325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056954" y="3122182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200945" y="5402461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065405" y="3936150"/>
            <a:ext cx="28575" cy="28575"/>
          </a:xfrm>
          <a:prstGeom prst="ellipse">
            <a:avLst/>
          </a:prstGeom>
          <a:solidFill>
            <a:srgbClr val="00F2FF">
              <a:alpha val="7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7B1F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总结与展望：未来已来，创意无限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285750" y="84296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品牌核心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285750" y="1198364"/>
            <a:ext cx="36740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我们不仅仅是一个平台，更是一个为Z世代创意人群量身打造的、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3959758" y="1198364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技术驱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285750" y="1398389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动的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542953" y="1398389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671568" y="1398389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去中心化的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1314534" y="1398389"/>
            <a:ext cx="13908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"新创意经济操作系统"。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414338" y="1757363"/>
            <a:ext cx="40433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i="1" dirty="0">
                <a:solidFill>
                  <a:srgbClr val="E0E0E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"让每一个Z世代创意人都能自由表达、充分协作、公平变现，共同塑造一个更智能、更流动、更公平的创意未来。"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285750" y="227171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核心价值主张</a:t>
            </a:r>
            <a:endParaRPr lang="en-US" sz="135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614613"/>
            <a:ext cx="4171950" cy="178593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6300" y="84296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未来愿景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4686300" y="1185863"/>
            <a:ext cx="2028825" cy="7572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14450"/>
            <a:ext cx="142875" cy="14287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029200" y="1300163"/>
            <a:ext cx="457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创意自由</a:t>
            </a:r>
            <a:endParaRPr lang="en-US" sz="837" dirty="0"/>
          </a:p>
        </p:txBody>
      </p:sp>
      <p:sp>
        <p:nvSpPr>
          <p:cNvPr id="38" name="Text 33"/>
          <p:cNvSpPr/>
          <p:nvPr/>
        </p:nvSpPr>
        <p:spPr>
          <a:xfrm>
            <a:off x="4800600" y="1528763"/>
            <a:ext cx="1800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打破传统平台限制，让创意人拥有更大的表达自由和创作空间</a:t>
            </a:r>
            <a:endParaRPr lang="en-US" sz="732" dirty="0"/>
          </a:p>
        </p:txBody>
      </p:sp>
      <p:sp>
        <p:nvSpPr>
          <p:cNvPr id="39" name="Shape 34"/>
          <p:cNvSpPr/>
          <p:nvPr/>
        </p:nvSpPr>
        <p:spPr>
          <a:xfrm>
            <a:off x="6829425" y="1185863"/>
            <a:ext cx="2028825" cy="7572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5" y="1314450"/>
            <a:ext cx="178594" cy="14287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208044" y="1300163"/>
            <a:ext cx="457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协作无界</a:t>
            </a:r>
            <a:endParaRPr lang="en-US" sz="837" dirty="0"/>
          </a:p>
        </p:txBody>
      </p:sp>
      <p:sp>
        <p:nvSpPr>
          <p:cNvPr id="42" name="Text 36"/>
          <p:cNvSpPr/>
          <p:nvPr/>
        </p:nvSpPr>
        <p:spPr>
          <a:xfrm>
            <a:off x="6943725" y="1528763"/>
            <a:ext cx="1800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通过AI智能体网络，实现跨领域、跨地域的高效协作</a:t>
            </a:r>
            <a:endParaRPr lang="en-US" sz="732" dirty="0"/>
          </a:p>
        </p:txBody>
      </p:sp>
      <p:sp>
        <p:nvSpPr>
          <p:cNvPr id="43" name="Shape 37"/>
          <p:cNvSpPr/>
          <p:nvPr/>
        </p:nvSpPr>
        <p:spPr>
          <a:xfrm>
            <a:off x="4686300" y="2043113"/>
            <a:ext cx="2028825" cy="7572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171700"/>
            <a:ext cx="142875" cy="14287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029200" y="2157413"/>
            <a:ext cx="457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价值公平</a:t>
            </a:r>
            <a:endParaRPr lang="en-US" sz="837" dirty="0"/>
          </a:p>
        </p:txBody>
      </p:sp>
      <p:sp>
        <p:nvSpPr>
          <p:cNvPr id="46" name="Text 39"/>
          <p:cNvSpPr/>
          <p:nvPr/>
        </p:nvSpPr>
        <p:spPr>
          <a:xfrm>
            <a:off x="4800600" y="2386013"/>
            <a:ext cx="1800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建立透明、公平的价值评估和分配机制，让创意得到应有回报</a:t>
            </a:r>
            <a:endParaRPr lang="en-US" sz="732" dirty="0"/>
          </a:p>
        </p:txBody>
      </p:sp>
      <p:sp>
        <p:nvSpPr>
          <p:cNvPr id="47" name="Shape 40"/>
          <p:cNvSpPr/>
          <p:nvPr/>
        </p:nvSpPr>
        <p:spPr>
          <a:xfrm>
            <a:off x="6829425" y="2043113"/>
            <a:ext cx="2028825" cy="757238"/>
          </a:xfrm>
          <a:prstGeom prst="rect">
            <a:avLst/>
          </a:prstGeom>
          <a:solidFill>
            <a:srgbClr val="0A2463">
              <a:alpha val="30000"/>
            </a:srgbClr>
          </a:solidFill>
          <a:ln w="99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725" y="2171700"/>
            <a:ext cx="142875" cy="142875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172325" y="2157413"/>
            <a:ext cx="457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智能赋能</a:t>
            </a:r>
            <a:endParaRPr lang="en-US" sz="837" dirty="0"/>
          </a:p>
        </p:txBody>
      </p:sp>
      <p:sp>
        <p:nvSpPr>
          <p:cNvPr id="50" name="Text 42"/>
          <p:cNvSpPr/>
          <p:nvPr/>
        </p:nvSpPr>
        <p:spPr>
          <a:xfrm>
            <a:off x="6943725" y="2386013"/>
            <a:ext cx="1800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AI不是替代，而是创意人的得力助手和智能伙伴</a:t>
            </a:r>
            <a:endParaRPr lang="en-US" sz="732" dirty="0"/>
          </a:p>
        </p:txBody>
      </p:sp>
      <p:sp>
        <p:nvSpPr>
          <p:cNvPr id="51" name="Text 43"/>
          <p:cNvSpPr/>
          <p:nvPr/>
        </p:nvSpPr>
        <p:spPr>
          <a:xfrm>
            <a:off x="5557838" y="2959298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加入我们，共同构建</a:t>
            </a:r>
            <a:endParaRPr lang="en-US" sz="1046" dirty="0"/>
          </a:p>
        </p:txBody>
      </p:sp>
      <p:sp>
        <p:nvSpPr>
          <p:cNvPr id="52" name="Text 44"/>
          <p:cNvSpPr/>
          <p:nvPr/>
        </p:nvSpPr>
        <p:spPr>
          <a:xfrm>
            <a:off x="6843713" y="2959298"/>
            <a:ext cx="571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创意无界</a:t>
            </a:r>
            <a:endParaRPr lang="en-US" sz="1046" dirty="0"/>
          </a:p>
        </p:txBody>
      </p:sp>
      <p:sp>
        <p:nvSpPr>
          <p:cNvPr id="53" name="Text 45"/>
          <p:cNvSpPr/>
          <p:nvPr/>
        </p:nvSpPr>
        <p:spPr>
          <a:xfrm>
            <a:off x="7415213" y="2959298"/>
            <a:ext cx="571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的未来！</a:t>
            </a:r>
            <a:endParaRPr lang="en-US" sz="10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2025-09-10T05:31:07Z</dcterms:created>
  <dcterms:modified xsi:type="dcterms:W3CDTF">2025-09-10T05:31:07Z</dcterms:modified>
</cp:coreProperties>
</file>