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5" r:id="rId5"/>
    <p:sldId id="266" r:id="rId6"/>
    <p:sldId id="259" r:id="rId7"/>
    <p:sldId id="267" r:id="rId8"/>
    <p:sldId id="268" r:id="rId9"/>
    <p:sldId id="260" r:id="rId10"/>
    <p:sldId id="261" r:id="rId11"/>
    <p:sldId id="262" r:id="rId12"/>
    <p:sldId id="263" r:id="rId13"/>
    <p:sldId id="269" r:id="rId14"/>
    <p:sldId id="264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B261"/>
    <a:srgbClr val="C78C54"/>
    <a:srgbClr val="437DF6"/>
    <a:srgbClr val="12263D"/>
    <a:srgbClr val="22A0B7"/>
    <a:srgbClr val="F59E1B"/>
    <a:srgbClr val="182A2E"/>
    <a:srgbClr val="1B213F"/>
    <a:srgbClr val="22A0B5"/>
    <a:srgbClr val="3253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43"/>
    <p:restoredTop sz="94610"/>
  </p:normalViewPr>
  <p:slideViewPr>
    <p:cSldViewPr snapToGrid="0" snapToObjects="1">
      <p:cViewPr>
        <p:scale>
          <a:sx n="155" d="100"/>
          <a:sy n="155" d="100"/>
        </p:scale>
        <p:origin x="1360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5440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7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47.png"/><Relationship Id="rId5" Type="http://schemas.openxmlformats.org/officeDocument/2006/relationships/image" Target="../media/image42.png"/><Relationship Id="rId10" Type="http://schemas.openxmlformats.org/officeDocument/2006/relationships/image" Target="../media/image46.png"/><Relationship Id="rId4" Type="http://schemas.openxmlformats.org/officeDocument/2006/relationships/image" Target="../media/image41.png"/><Relationship Id="rId9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1028700"/>
            <a:ext cx="71438" cy="71438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315200" y="3086100"/>
            <a:ext cx="107156" cy="107156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828800" y="4114800"/>
            <a:ext cx="57150" cy="57150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3857625" y="285750"/>
            <a:ext cx="1428750" cy="1428750"/>
          </a:xfrm>
          <a:prstGeom prst="ellipse">
            <a:avLst/>
          </a:prstGeom>
          <a:gradFill>
            <a:gsLst>
              <a:gs pos="0">
                <a:srgbClr val="F59E1B"/>
              </a:gs>
              <a:gs pos="74000">
                <a:srgbClr val="22A0B5"/>
              </a:gs>
              <a:gs pos="41000">
                <a:srgbClr val="4FB261"/>
              </a:gs>
              <a:gs pos="100000">
                <a:srgbClr val="437DF6">
                  <a:lumMod val="80455"/>
                  <a:lumOff val="19545"/>
                </a:srgbClr>
              </a:gs>
            </a:gsLst>
            <a:lin ang="14100000" scaled="0"/>
          </a:gra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3" y="357188"/>
            <a:ext cx="1285875" cy="1285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41851" y="1986476"/>
            <a:ext cx="4860306" cy="4847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3150" b="1" dirty="0">
                <a:solidFill>
                  <a:srgbClr val="22A0B7"/>
                </a:solidFill>
                <a:latin typeface="PingFang SC Semibold" panose="020B0400000000000000" pitchFamily="34" charset="-122"/>
                <a:ea typeface="PingFang SC Semibold" panose="020B0400000000000000" pitchFamily="34" charset="-122"/>
              </a:rPr>
              <a:t>AI</a:t>
            </a:r>
            <a:r>
              <a:rPr lang="zh-CN" altLang="en-US" sz="3150" b="1" dirty="0">
                <a:solidFill>
                  <a:srgbClr val="22A0B7"/>
                </a:solidFill>
                <a:latin typeface="PingFang SC Semibold" panose="020B0400000000000000" pitchFamily="34" charset="-122"/>
                <a:ea typeface="PingFang SC Semibold" panose="020B0400000000000000" pitchFamily="34" charset="-122"/>
              </a:rPr>
              <a:t> </a:t>
            </a:r>
            <a:r>
              <a:rPr lang="en-US" altLang="zh-CN" sz="3150" b="1" dirty="0" err="1">
                <a:solidFill>
                  <a:srgbClr val="22A0B7"/>
                </a:solidFill>
                <a:latin typeface="PingFang SC Semibold" panose="020B0400000000000000" pitchFamily="34" charset="-122"/>
                <a:ea typeface="PingFang SC Semibold" panose="020B0400000000000000" pitchFamily="34" charset="-122"/>
              </a:rPr>
              <a:t>Agent</a:t>
            </a:r>
            <a:r>
              <a:rPr lang="en-US" sz="3150" b="1" dirty="0" err="1">
                <a:solidFill>
                  <a:srgbClr val="22A0B7"/>
                </a:solidFill>
                <a:latin typeface="PingFang SC Semibold" panose="020B0400000000000000" pitchFamily="34" charset="-122"/>
                <a:ea typeface="PingFang SC Semibold" panose="020B0400000000000000" pitchFamily="34" charset="-122"/>
              </a:rPr>
              <a:t>基础设施生态协议</a:t>
            </a:r>
            <a:endParaRPr lang="en-US" sz="3150" b="1" dirty="0">
              <a:solidFill>
                <a:srgbClr val="22A0B7"/>
              </a:solidFill>
              <a:latin typeface="PingFang SC Semibold" panose="020B0400000000000000" pitchFamily="34" charset="-122"/>
              <a:ea typeface="PingFang SC Semibold" panose="020B0400000000000000" pitchFamily="34" charset="-122"/>
            </a:endParaRPr>
          </a:p>
        </p:txBody>
      </p:sp>
      <p:sp>
        <p:nvSpPr>
          <p:cNvPr id="9" name="Text 5"/>
          <p:cNvSpPr/>
          <p:nvPr/>
        </p:nvSpPr>
        <p:spPr>
          <a:xfrm>
            <a:off x="3918776" y="2689324"/>
            <a:ext cx="1306448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PingFang SC Medium" panose="020B0400000000000000" pitchFamily="34" charset="-122"/>
                <a:ea typeface="PingFang SC Medium" panose="020B0400000000000000" pitchFamily="34" charset="-122"/>
                <a:cs typeface="Montserrat" pitchFamily="34" charset="-120"/>
              </a:rPr>
              <a:t>商业计划书</a:t>
            </a:r>
            <a:endParaRPr lang="en-US" sz="2000" dirty="0">
              <a:latin typeface="PingFang SC Medium" panose="020B0400000000000000" pitchFamily="34" charset="-122"/>
              <a:ea typeface="PingFang SC Medium" panose="020B0400000000000000" pitchFamily="34" charset="-122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446692" y="3253688"/>
            <a:ext cx="2250616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0B981"/>
                </a:solidFill>
                <a:latin typeface="PINGFANG SC MEDIUM" panose="020B0400000000000000" pitchFamily="34" charset="-122"/>
                <a:ea typeface="PINGFANG SC MEDIUM" panose="020B0400000000000000" pitchFamily="34" charset="-122"/>
                <a:cs typeface="Noto Sans" pitchFamily="34" charset="-120"/>
              </a:rPr>
              <a:t>共建硅基文明，定义未来世界</a:t>
            </a:r>
            <a:endParaRPr lang="en-US" sz="1350" i="1" dirty="0">
              <a:latin typeface="PINGFANG SC MEDIUM" panose="020B0400000000000000" pitchFamily="34" charset="-122"/>
              <a:ea typeface="PINGFANG SC MEDIUM" panose="020B0400000000000000" pitchFamily="34" charset="-122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929063" y="4643438"/>
            <a:ext cx="12858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文明创世合伙人团队</a:t>
            </a:r>
            <a:endParaRPr lang="en-US" sz="104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6065" y="328965"/>
            <a:ext cx="1211870" cy="3636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363" b="1" dirty="0">
                <a:solidFill>
                  <a:srgbClr val="FFFFFF"/>
                </a:solidFill>
                <a:latin typeface="PingFang SC Semibold" panose="020B0400000000000000" pitchFamily="34" charset="-122"/>
                <a:ea typeface="PingFang SC Semibold" panose="020B0400000000000000" pitchFamily="34" charset="-122"/>
                <a:cs typeface="Montserrat" pitchFamily="34" charset="-120"/>
              </a:rPr>
              <a:t>项目概述</a:t>
            </a:r>
            <a:endParaRPr lang="en-US" sz="2363" b="1" dirty="0">
              <a:latin typeface="PingFang SC Semibold" panose="020B0400000000000000" pitchFamily="34" charset="-122"/>
              <a:ea typeface="PingFang SC Semibold" panose="020B0400000000000000" pitchFamily="34" charset="-122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85750" y="1165213"/>
            <a:ext cx="4143375" cy="1004367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1165213"/>
            <a:ext cx="28575" cy="1004367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340234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1513" y="1308088"/>
            <a:ext cx="62867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平台定位 </a:t>
            </a:r>
            <a:endParaRPr lang="en-US" sz="1238" dirty="0"/>
          </a:p>
        </p:txBody>
      </p:sp>
      <p:sp>
        <p:nvSpPr>
          <p:cNvPr id="8" name="Text 4"/>
          <p:cNvSpPr/>
          <p:nvPr/>
        </p:nvSpPr>
        <p:spPr>
          <a:xfrm>
            <a:off x="428625" y="1615269"/>
            <a:ext cx="38576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AI文明新世界平台，聚集算力资源、专业数据集、AI模型及Agents、专业工程师和产品解决方案专家、AI训练师等核心要素。</a:t>
            </a:r>
            <a:endParaRPr lang="en-US" sz="942" dirty="0"/>
          </a:p>
        </p:txBody>
      </p:sp>
      <p:sp>
        <p:nvSpPr>
          <p:cNvPr id="9" name="Shape 5"/>
          <p:cNvSpPr/>
          <p:nvPr/>
        </p:nvSpPr>
        <p:spPr>
          <a:xfrm>
            <a:off x="285750" y="2348173"/>
            <a:ext cx="4143375" cy="1004367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285750" y="2348173"/>
            <a:ext cx="28575" cy="1004367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523195"/>
            <a:ext cx="214313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4375" y="2491048"/>
            <a:ext cx="62867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生态模式 </a:t>
            </a:r>
            <a:endParaRPr lang="en-US" sz="1238" dirty="0"/>
          </a:p>
        </p:txBody>
      </p:sp>
      <p:sp>
        <p:nvSpPr>
          <p:cNvPr id="13" name="Text 8"/>
          <p:cNvSpPr/>
          <p:nvPr/>
        </p:nvSpPr>
        <p:spPr>
          <a:xfrm>
            <a:off x="428625" y="2798229"/>
            <a:ext cx="38576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平台上的供给和需求方互相形成产业链，如法律专家调试出的数据及AI模型服务于金融投资家，形成互利共赢的生态闭环。</a:t>
            </a:r>
            <a:endParaRPr lang="en-US" sz="942" dirty="0"/>
          </a:p>
        </p:txBody>
      </p:sp>
      <p:sp>
        <p:nvSpPr>
          <p:cNvPr id="14" name="Shape 9"/>
          <p:cNvSpPr/>
          <p:nvPr/>
        </p:nvSpPr>
        <p:spPr>
          <a:xfrm>
            <a:off x="285750" y="3531133"/>
            <a:ext cx="4143375" cy="1004367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15" name="Shape 10"/>
          <p:cNvSpPr/>
          <p:nvPr/>
        </p:nvSpPr>
        <p:spPr>
          <a:xfrm>
            <a:off x="285750" y="3531133"/>
            <a:ext cx="28575" cy="1004367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3706155"/>
            <a:ext cx="171450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1513" y="3674008"/>
            <a:ext cx="62867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数字货币 </a:t>
            </a:r>
            <a:endParaRPr lang="en-US" sz="1238" dirty="0"/>
          </a:p>
        </p:txBody>
      </p:sp>
      <p:sp>
        <p:nvSpPr>
          <p:cNvPr id="18" name="Text 12"/>
          <p:cNvSpPr/>
          <p:nvPr/>
        </p:nvSpPr>
        <p:spPr>
          <a:xfrm>
            <a:off x="428625" y="3981190"/>
            <a:ext cx="38576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平台内部流通数字货币，采用区块链加密技术，总量有限、定期释放，促进平台生态的健康发展。</a:t>
            </a:r>
            <a:endParaRPr lang="en-US" sz="942" dirty="0"/>
          </a:p>
        </p:txBody>
      </p:sp>
      <p:sp>
        <p:nvSpPr>
          <p:cNvPr id="19" name="Shape 13"/>
          <p:cNvSpPr/>
          <p:nvPr/>
        </p:nvSpPr>
        <p:spPr>
          <a:xfrm>
            <a:off x="5357813" y="1510903"/>
            <a:ext cx="2857500" cy="2857500"/>
          </a:xfrm>
          <a:prstGeom prst="ellipse">
            <a:avLst/>
          </a:prstGeom>
          <a:gradFill flip="none" rotWithShape="1">
            <a:gsLst>
              <a:gs pos="12000">
                <a:srgbClr val="1B213F"/>
              </a:gs>
              <a:gs pos="45000">
                <a:srgbClr val="12263D">
                  <a:lumMod val="100000"/>
                  <a:lumOff val="0"/>
                </a:srgbClr>
              </a:gs>
              <a:gs pos="100000">
                <a:srgbClr val="182A2E"/>
              </a:gs>
            </a:gsLst>
            <a:lin ang="2700000" scaled="1"/>
            <a:tileRect/>
          </a:gradFill>
          <a:ln w="387350">
            <a:gradFill flip="none" rotWithShape="1">
              <a:gsLst>
                <a:gs pos="0">
                  <a:srgbClr val="FFC000">
                    <a:lumMod val="96000"/>
                  </a:srgbClr>
                </a:gs>
                <a:gs pos="74000">
                  <a:srgbClr val="22A0B5"/>
                </a:gs>
                <a:gs pos="41000">
                  <a:srgbClr val="4FB261"/>
                </a:gs>
                <a:gs pos="100000">
                  <a:srgbClr val="437DF6">
                    <a:lumMod val="80455"/>
                    <a:lumOff val="19545"/>
                  </a:srgbClr>
                </a:gs>
              </a:gsLst>
              <a:lin ang="16200000" scaled="0"/>
              <a:tileRect/>
            </a:gradFill>
          </a:ln>
        </p:spPr>
      </p:sp>
      <p:sp>
        <p:nvSpPr>
          <p:cNvPr id="20" name="Text 14"/>
          <p:cNvSpPr/>
          <p:nvPr/>
        </p:nvSpPr>
        <p:spPr>
          <a:xfrm>
            <a:off x="5970621" y="2475566"/>
            <a:ext cx="1631857" cy="2423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575" b="1" dirty="0" err="1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AI硅基文明新世界</a:t>
            </a:r>
            <a:endParaRPr lang="en-US" sz="1575" dirty="0"/>
          </a:p>
        </p:txBody>
      </p:sp>
      <p:sp>
        <p:nvSpPr>
          <p:cNvPr id="21" name="Text 15"/>
          <p:cNvSpPr/>
          <p:nvPr/>
        </p:nvSpPr>
        <p:spPr>
          <a:xfrm>
            <a:off x="6466489" y="2862858"/>
            <a:ext cx="64011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人与AI共生</a:t>
            </a:r>
            <a:endParaRPr lang="en-US" sz="942" dirty="0"/>
          </a:p>
        </p:txBody>
      </p:sp>
      <p:sp>
        <p:nvSpPr>
          <p:cNvPr id="22" name="Text 16"/>
          <p:cNvSpPr/>
          <p:nvPr/>
        </p:nvSpPr>
        <p:spPr>
          <a:xfrm>
            <a:off x="6420948" y="3055739"/>
            <a:ext cx="7311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共同实现AGI</a:t>
            </a:r>
            <a:endParaRPr lang="en-US" sz="942" dirty="0"/>
          </a:p>
        </p:txBody>
      </p:sp>
      <p:sp>
        <p:nvSpPr>
          <p:cNvPr id="23" name="Text 17"/>
          <p:cNvSpPr/>
          <p:nvPr/>
        </p:nvSpPr>
        <p:spPr>
          <a:xfrm>
            <a:off x="6272185" y="3248620"/>
            <a:ext cx="10287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构建硅基文明社会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2363" b="1" dirty="0" err="1">
                <a:solidFill>
                  <a:srgbClr val="FFFFFF"/>
                </a:solidFill>
                <a:latin typeface="PingFang SC Semibold" panose="020B0400000000000000" pitchFamily="34" charset="-122"/>
                <a:ea typeface="PingFang SC Semibold" panose="020B0400000000000000" pitchFamily="34" charset="-122"/>
              </a:rPr>
              <a:t>平台架构与生态</a:t>
            </a:r>
            <a:endParaRPr lang="en-US" sz="2363" b="1" dirty="0">
              <a:solidFill>
                <a:srgbClr val="FFFFFF"/>
              </a:solidFill>
              <a:latin typeface="PingFang SC Semibold" panose="020B0400000000000000" pitchFamily="34" charset="-122"/>
              <a:ea typeface="PingFang SC Semibold" panose="020B0400000000000000" pitchFamily="34" charset="-122"/>
            </a:endParaRPr>
          </a:p>
        </p:txBody>
      </p:sp>
      <p:sp>
        <p:nvSpPr>
          <p:cNvPr id="4" name="Shape 1"/>
          <p:cNvSpPr/>
          <p:nvPr/>
        </p:nvSpPr>
        <p:spPr>
          <a:xfrm>
            <a:off x="1643063" y="2225278"/>
            <a:ext cx="1428750" cy="14287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1664857" y="2811066"/>
            <a:ext cx="52791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AI文明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192768" y="2811066"/>
            <a:ext cx="8572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新世界平台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2938" y="1378744"/>
            <a:ext cx="1571625" cy="857250"/>
          </a:xfrm>
          <a:prstGeom prst="rect">
            <a:avLst/>
          </a:prstGeom>
          <a:solidFill>
            <a:srgbClr val="6366F1">
              <a:alpha val="10000"/>
            </a:srgbClr>
          </a:solidFill>
          <a:ln w="198">
            <a:solidFill>
              <a:srgbClr val="6366F1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450" y="1578769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1547" y="1843088"/>
            <a:ext cx="51437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算力资源 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2500313" y="1378744"/>
            <a:ext cx="1571625" cy="857250"/>
          </a:xfrm>
          <a:prstGeom prst="rect">
            <a:avLst/>
          </a:prstGeom>
          <a:solidFill>
            <a:srgbClr val="6366F1">
              <a:alpha val="10000"/>
            </a:srgbClr>
          </a:solidFill>
          <a:ln w="198">
            <a:solidFill>
              <a:srgbClr val="6366F1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6113" y="1578769"/>
            <a:ext cx="200025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900335" y="1843088"/>
            <a:ext cx="77155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数据集与场景 </a:t>
            </a:r>
            <a:endParaRPr lang="en-US" sz="942" dirty="0"/>
          </a:p>
        </p:txBody>
      </p:sp>
      <p:sp>
        <p:nvSpPr>
          <p:cNvPr id="13" name="Shape 8"/>
          <p:cNvSpPr/>
          <p:nvPr/>
        </p:nvSpPr>
        <p:spPr>
          <a:xfrm>
            <a:off x="642938" y="3643313"/>
            <a:ext cx="1571625" cy="857250"/>
          </a:xfrm>
          <a:prstGeom prst="rect">
            <a:avLst/>
          </a:prstGeom>
          <a:solidFill>
            <a:srgbClr val="6366F1">
              <a:alpha val="10000"/>
            </a:srgbClr>
          </a:solidFill>
          <a:ln w="198">
            <a:solidFill>
              <a:srgbClr val="6366F1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5875" y="3843338"/>
            <a:ext cx="28575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71547" y="4107656"/>
            <a:ext cx="51437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人才体系 </a:t>
            </a:r>
            <a:endParaRPr lang="en-US" sz="942" dirty="0"/>
          </a:p>
        </p:txBody>
      </p:sp>
      <p:sp>
        <p:nvSpPr>
          <p:cNvPr id="16" name="Shape 10"/>
          <p:cNvSpPr/>
          <p:nvPr/>
        </p:nvSpPr>
        <p:spPr>
          <a:xfrm>
            <a:off x="2500313" y="3643313"/>
            <a:ext cx="1571625" cy="857250"/>
          </a:xfrm>
          <a:prstGeom prst="rect">
            <a:avLst/>
          </a:prstGeom>
          <a:solidFill>
            <a:srgbClr val="6366F1">
              <a:alpha val="10000"/>
            </a:srgbClr>
          </a:solidFill>
          <a:ln w="198">
            <a:solidFill>
              <a:srgbClr val="6366F1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3250" y="3843338"/>
            <a:ext cx="28575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093216" y="4107656"/>
            <a:ext cx="38579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产业链 </a:t>
            </a:r>
            <a:endParaRPr lang="en-US" sz="942" dirty="0"/>
          </a:p>
        </p:txBody>
      </p:sp>
      <p:sp>
        <p:nvSpPr>
          <p:cNvPr id="19" name="Shape 12"/>
          <p:cNvSpPr/>
          <p:nvPr/>
        </p:nvSpPr>
        <p:spPr>
          <a:xfrm rot="-2700000">
            <a:off x="2038507" y="1983424"/>
            <a:ext cx="714375" cy="14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3"/>
          <p:cNvSpPr/>
          <p:nvPr/>
        </p:nvSpPr>
        <p:spPr>
          <a:xfrm rot="2700000">
            <a:off x="1961993" y="1983424"/>
            <a:ext cx="714375" cy="14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Shape 14"/>
          <p:cNvSpPr/>
          <p:nvPr/>
        </p:nvSpPr>
        <p:spPr>
          <a:xfrm rot="2700000">
            <a:off x="2038507" y="3881595"/>
            <a:ext cx="714375" cy="14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Shape 15"/>
          <p:cNvSpPr/>
          <p:nvPr/>
        </p:nvSpPr>
        <p:spPr>
          <a:xfrm rot="-2700000">
            <a:off x="1961993" y="3881595"/>
            <a:ext cx="714375" cy="14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Shape 16"/>
          <p:cNvSpPr/>
          <p:nvPr/>
        </p:nvSpPr>
        <p:spPr>
          <a:xfrm>
            <a:off x="2350294" y="4000500"/>
            <a:ext cx="14288" cy="7143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17"/>
          <p:cNvSpPr/>
          <p:nvPr/>
        </p:nvSpPr>
        <p:spPr>
          <a:xfrm>
            <a:off x="1971661" y="4664869"/>
            <a:ext cx="77155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平台数字货币</a:t>
            </a:r>
            <a:endParaRPr lang="en-US" sz="942" dirty="0"/>
          </a:p>
        </p:txBody>
      </p:sp>
      <p:sp>
        <p:nvSpPr>
          <p:cNvPr id="25" name="Shape 18"/>
          <p:cNvSpPr/>
          <p:nvPr/>
        </p:nvSpPr>
        <p:spPr>
          <a:xfrm>
            <a:off x="4714875" y="1050131"/>
            <a:ext cx="4143375" cy="885825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26" name="Shape 19"/>
          <p:cNvSpPr/>
          <p:nvPr/>
        </p:nvSpPr>
        <p:spPr>
          <a:xfrm>
            <a:off x="4714875" y="1050131"/>
            <a:ext cx="28575" cy="885825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2031" y="1193006"/>
            <a:ext cx="142875" cy="14287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022056" y="1166217"/>
            <a:ext cx="60867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算力资源</a:t>
            </a:r>
            <a:endParaRPr lang="en-US" sz="1046" dirty="0"/>
          </a:p>
        </p:txBody>
      </p:sp>
      <p:sp>
        <p:nvSpPr>
          <p:cNvPr id="29" name="Text 21"/>
          <p:cNvSpPr/>
          <p:nvPr/>
        </p:nvSpPr>
        <p:spPr>
          <a:xfrm>
            <a:off x="4822031" y="1443038"/>
            <a:ext cx="39290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外部众筹形式建设，投资人买算力接入平台，平台租赁给需求方，形成算力共享生态。</a:t>
            </a:r>
            <a:endParaRPr lang="en-US" sz="942" dirty="0"/>
          </a:p>
        </p:txBody>
      </p:sp>
      <p:sp>
        <p:nvSpPr>
          <p:cNvPr id="30" name="Shape 22"/>
          <p:cNvSpPr/>
          <p:nvPr/>
        </p:nvSpPr>
        <p:spPr>
          <a:xfrm>
            <a:off x="4714875" y="2043113"/>
            <a:ext cx="4143375" cy="885825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31" name="Shape 23"/>
          <p:cNvSpPr/>
          <p:nvPr/>
        </p:nvSpPr>
        <p:spPr>
          <a:xfrm>
            <a:off x="4714875" y="2043113"/>
            <a:ext cx="28575" cy="885825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2031" y="2185988"/>
            <a:ext cx="125016" cy="142875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004197" y="2159198"/>
            <a:ext cx="89442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数据集与场景</a:t>
            </a:r>
            <a:endParaRPr lang="en-US" sz="1046" dirty="0"/>
          </a:p>
        </p:txBody>
      </p:sp>
      <p:sp>
        <p:nvSpPr>
          <p:cNvPr id="34" name="Text 25"/>
          <p:cNvSpPr/>
          <p:nvPr/>
        </p:nvSpPr>
        <p:spPr>
          <a:xfrm>
            <a:off x="4822031" y="2436019"/>
            <a:ext cx="39290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来自外部企业和政府营业场景客户采购技术服务，提供高质量专业领域数据。</a:t>
            </a:r>
            <a:endParaRPr lang="en-US" sz="942" dirty="0"/>
          </a:p>
        </p:txBody>
      </p:sp>
      <p:sp>
        <p:nvSpPr>
          <p:cNvPr id="35" name="Shape 26"/>
          <p:cNvSpPr/>
          <p:nvPr/>
        </p:nvSpPr>
        <p:spPr>
          <a:xfrm>
            <a:off x="4714875" y="3036094"/>
            <a:ext cx="4143375" cy="692944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36" name="Shape 27"/>
          <p:cNvSpPr/>
          <p:nvPr/>
        </p:nvSpPr>
        <p:spPr>
          <a:xfrm>
            <a:off x="4714875" y="3036094"/>
            <a:ext cx="28575" cy="692944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22031" y="3178969"/>
            <a:ext cx="178594" cy="142875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057775" y="3152180"/>
            <a:ext cx="60867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人才体系</a:t>
            </a:r>
            <a:endParaRPr lang="en-US" sz="1046" dirty="0"/>
          </a:p>
        </p:txBody>
      </p:sp>
      <p:sp>
        <p:nvSpPr>
          <p:cNvPr id="39" name="Text 29"/>
          <p:cNvSpPr/>
          <p:nvPr/>
        </p:nvSpPr>
        <p:spPr>
          <a:xfrm>
            <a:off x="4822031" y="3429000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行业+AI人才，经过训练考核后提供服务，形成专业人才池。</a:t>
            </a:r>
            <a:endParaRPr lang="en-US" sz="942" dirty="0"/>
          </a:p>
        </p:txBody>
      </p:sp>
      <p:sp>
        <p:nvSpPr>
          <p:cNvPr id="40" name="Shape 30"/>
          <p:cNvSpPr/>
          <p:nvPr/>
        </p:nvSpPr>
        <p:spPr>
          <a:xfrm>
            <a:off x="4714875" y="3836194"/>
            <a:ext cx="4143375" cy="885825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41" name="Shape 31"/>
          <p:cNvSpPr/>
          <p:nvPr/>
        </p:nvSpPr>
        <p:spPr>
          <a:xfrm>
            <a:off x="4714875" y="3836194"/>
            <a:ext cx="28575" cy="885825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22031" y="3979069"/>
            <a:ext cx="178594" cy="142875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5057775" y="3952280"/>
            <a:ext cx="46579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产业链</a:t>
            </a:r>
            <a:endParaRPr lang="en-US" sz="1046" dirty="0"/>
          </a:p>
        </p:txBody>
      </p:sp>
      <p:sp>
        <p:nvSpPr>
          <p:cNvPr id="44" name="Text 33"/>
          <p:cNvSpPr/>
          <p:nvPr/>
        </p:nvSpPr>
        <p:spPr>
          <a:xfrm>
            <a:off x="4822031" y="4229100"/>
            <a:ext cx="39290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供给与需求方互相形成产业链，如法律专家与金融投资家互相提供服务，形成生态闭环。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2363" b="1" dirty="0" err="1">
                <a:solidFill>
                  <a:srgbClr val="FFFFFF"/>
                </a:solidFill>
                <a:latin typeface="PingFang SC Semibold" panose="020B0400000000000000" pitchFamily="34" charset="-122"/>
                <a:ea typeface="PingFang SC Semibold" panose="020B0400000000000000" pitchFamily="34" charset="-122"/>
              </a:rPr>
              <a:t>USMSB模型：AI文明新世界平台的理论基石</a:t>
            </a:r>
            <a:endParaRPr lang="en-US" sz="2363" b="1" dirty="0">
              <a:solidFill>
                <a:srgbClr val="FFFFFF"/>
              </a:solidFill>
              <a:latin typeface="PingFang SC Semibold" panose="020B0400000000000000" pitchFamily="34" charset="-122"/>
              <a:ea typeface="PingFang SC Semibold" panose="020B0400000000000000" pitchFamily="34" charset="-122"/>
            </a:endParaRPr>
          </a:p>
        </p:txBody>
      </p:sp>
      <p:sp>
        <p:nvSpPr>
          <p:cNvPr id="4" name="Shape 1"/>
          <p:cNvSpPr/>
          <p:nvPr/>
        </p:nvSpPr>
        <p:spPr>
          <a:xfrm>
            <a:off x="1821656" y="2403872"/>
            <a:ext cx="1071563" cy="1071563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1966457" y="2832497"/>
            <a:ext cx="49621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USMSB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2462668" y="2832497"/>
            <a:ext cx="285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模型</a:t>
            </a:r>
            <a:endParaRPr lang="en-US" sz="1046" dirty="0"/>
          </a:p>
        </p:txBody>
      </p:sp>
      <p:sp>
        <p:nvSpPr>
          <p:cNvPr id="7" name="Shape 4"/>
          <p:cNvSpPr/>
          <p:nvPr/>
        </p:nvSpPr>
        <p:spPr>
          <a:xfrm>
            <a:off x="2000250" y="1153716"/>
            <a:ext cx="714375" cy="428625"/>
          </a:xfrm>
          <a:prstGeom prst="rect">
            <a:avLst/>
          </a:prstGeom>
          <a:solidFill>
            <a:srgbClr val="6366F1">
              <a:alpha val="10000"/>
            </a:srgbClr>
          </a:solidFill>
          <a:ln w="198">
            <a:solidFill>
              <a:srgbClr val="6366F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00250" y="1153716"/>
            <a:ext cx="714375" cy="4286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Agent</a:t>
            </a:r>
            <a:endParaRPr lang="en-US" sz="732" dirty="0"/>
          </a:p>
        </p:txBody>
      </p:sp>
      <p:sp>
        <p:nvSpPr>
          <p:cNvPr id="9" name="Shape 6"/>
          <p:cNvSpPr/>
          <p:nvPr/>
        </p:nvSpPr>
        <p:spPr>
          <a:xfrm>
            <a:off x="3429000" y="1475184"/>
            <a:ext cx="714375" cy="428625"/>
          </a:xfrm>
          <a:prstGeom prst="rect">
            <a:avLst/>
          </a:prstGeom>
          <a:solidFill>
            <a:srgbClr val="6366F1">
              <a:alpha val="10000"/>
            </a:srgbClr>
          </a:solidFill>
          <a:ln w="198">
            <a:solidFill>
              <a:srgbClr val="6366F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29000" y="1475184"/>
            <a:ext cx="714375" cy="4286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Object</a:t>
            </a:r>
            <a:endParaRPr lang="en-US" sz="732" dirty="0"/>
          </a:p>
        </p:txBody>
      </p:sp>
      <p:sp>
        <p:nvSpPr>
          <p:cNvPr id="11" name="Shape 8"/>
          <p:cNvSpPr/>
          <p:nvPr/>
        </p:nvSpPr>
        <p:spPr>
          <a:xfrm>
            <a:off x="3429000" y="3975497"/>
            <a:ext cx="714375" cy="428625"/>
          </a:xfrm>
          <a:prstGeom prst="rect">
            <a:avLst/>
          </a:prstGeom>
          <a:solidFill>
            <a:srgbClr val="6366F1">
              <a:alpha val="10000"/>
            </a:srgbClr>
          </a:solidFill>
          <a:ln w="198">
            <a:solidFill>
              <a:srgbClr val="6366F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29000" y="3975497"/>
            <a:ext cx="714375" cy="4286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Goal</a:t>
            </a:r>
            <a:endParaRPr lang="en-US" sz="732" dirty="0"/>
          </a:p>
        </p:txBody>
      </p:sp>
      <p:sp>
        <p:nvSpPr>
          <p:cNvPr id="13" name="Shape 10"/>
          <p:cNvSpPr/>
          <p:nvPr/>
        </p:nvSpPr>
        <p:spPr>
          <a:xfrm>
            <a:off x="2000250" y="4296966"/>
            <a:ext cx="714375" cy="428625"/>
          </a:xfrm>
          <a:prstGeom prst="rect">
            <a:avLst/>
          </a:prstGeom>
          <a:solidFill>
            <a:srgbClr val="6366F1">
              <a:alpha val="10000"/>
            </a:srgbClr>
          </a:solidFill>
          <a:ln w="198">
            <a:solidFill>
              <a:srgbClr val="6366F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00250" y="4296966"/>
            <a:ext cx="714375" cy="4286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Resource</a:t>
            </a:r>
            <a:endParaRPr lang="en-US" sz="732" dirty="0"/>
          </a:p>
        </p:txBody>
      </p:sp>
      <p:sp>
        <p:nvSpPr>
          <p:cNvPr id="15" name="Shape 12"/>
          <p:cNvSpPr/>
          <p:nvPr/>
        </p:nvSpPr>
        <p:spPr>
          <a:xfrm>
            <a:off x="571500" y="3975497"/>
            <a:ext cx="714375" cy="428625"/>
          </a:xfrm>
          <a:prstGeom prst="rect">
            <a:avLst/>
          </a:prstGeom>
          <a:solidFill>
            <a:srgbClr val="6366F1">
              <a:alpha val="10000"/>
            </a:srgbClr>
          </a:solidFill>
          <a:ln w="198">
            <a:solidFill>
              <a:srgbClr val="6366F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1500" y="3975497"/>
            <a:ext cx="714375" cy="4286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Rule</a:t>
            </a:r>
            <a:endParaRPr lang="en-US" sz="732" dirty="0"/>
          </a:p>
        </p:txBody>
      </p:sp>
      <p:sp>
        <p:nvSpPr>
          <p:cNvPr id="17" name="Shape 14"/>
          <p:cNvSpPr/>
          <p:nvPr/>
        </p:nvSpPr>
        <p:spPr>
          <a:xfrm>
            <a:off x="571500" y="1475184"/>
            <a:ext cx="714375" cy="428625"/>
          </a:xfrm>
          <a:prstGeom prst="rect">
            <a:avLst/>
          </a:prstGeom>
          <a:solidFill>
            <a:srgbClr val="6366F1">
              <a:alpha val="10000"/>
            </a:srgbClr>
          </a:solidFill>
          <a:ln w="198">
            <a:solidFill>
              <a:srgbClr val="6366F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1500" y="1557408"/>
            <a:ext cx="714375" cy="26417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Information</a:t>
            </a:r>
            <a:endParaRPr lang="en-US" sz="600" dirty="0"/>
          </a:p>
        </p:txBody>
      </p:sp>
      <p:sp>
        <p:nvSpPr>
          <p:cNvPr id="19" name="Shape 16"/>
          <p:cNvSpPr/>
          <p:nvPr/>
        </p:nvSpPr>
        <p:spPr>
          <a:xfrm>
            <a:off x="571500" y="2725341"/>
            <a:ext cx="714375" cy="428625"/>
          </a:xfrm>
          <a:prstGeom prst="rect">
            <a:avLst/>
          </a:prstGeom>
          <a:solidFill>
            <a:srgbClr val="6366F1">
              <a:alpha val="10000"/>
            </a:srgbClr>
          </a:solidFill>
          <a:ln w="198">
            <a:solidFill>
              <a:srgbClr val="6366F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1500" y="2725341"/>
            <a:ext cx="714375" cy="4286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Value</a:t>
            </a:r>
            <a:endParaRPr lang="en-US" sz="732" dirty="0"/>
          </a:p>
        </p:txBody>
      </p:sp>
      <p:sp>
        <p:nvSpPr>
          <p:cNvPr id="21" name="Shape 18"/>
          <p:cNvSpPr/>
          <p:nvPr/>
        </p:nvSpPr>
        <p:spPr>
          <a:xfrm>
            <a:off x="3429000" y="2725341"/>
            <a:ext cx="714375" cy="428625"/>
          </a:xfrm>
          <a:prstGeom prst="rect">
            <a:avLst/>
          </a:prstGeom>
          <a:solidFill>
            <a:srgbClr val="6366F1">
              <a:alpha val="10000"/>
            </a:srgbClr>
          </a:solidFill>
          <a:ln w="198">
            <a:solidFill>
              <a:srgbClr val="6366F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2725341"/>
            <a:ext cx="714375" cy="4286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</a:t>
            </a:r>
            <a:endParaRPr lang="en-US" sz="732" dirty="0"/>
          </a:p>
        </p:txBody>
      </p:sp>
      <p:sp>
        <p:nvSpPr>
          <p:cNvPr id="23" name="Shape 20"/>
          <p:cNvSpPr/>
          <p:nvPr/>
        </p:nvSpPr>
        <p:spPr>
          <a:xfrm>
            <a:off x="2000250" y="3613943"/>
            <a:ext cx="714375" cy="428625"/>
          </a:xfrm>
          <a:prstGeom prst="rect">
            <a:avLst/>
          </a:prstGeom>
          <a:solidFill>
            <a:srgbClr val="6366F1">
              <a:alpha val="10000"/>
            </a:srgbClr>
          </a:solidFill>
          <a:ln w="198">
            <a:solidFill>
              <a:srgbClr val="6366F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000250" y="3696168"/>
            <a:ext cx="714375" cy="26417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Environment</a:t>
            </a:r>
            <a:endParaRPr lang="en-US" sz="732" dirty="0"/>
          </a:p>
        </p:txBody>
      </p:sp>
      <p:sp>
        <p:nvSpPr>
          <p:cNvPr id="25" name="Shape 22"/>
          <p:cNvSpPr/>
          <p:nvPr/>
        </p:nvSpPr>
        <p:spPr>
          <a:xfrm>
            <a:off x="4714875" y="1193006"/>
            <a:ext cx="4143375" cy="1021556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4714875" y="1193006"/>
            <a:ext cx="28575" cy="102155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7" name="Text 24"/>
          <p:cNvSpPr/>
          <p:nvPr/>
        </p:nvSpPr>
        <p:spPr>
          <a:xfrm>
            <a:off x="4822031" y="1300163"/>
            <a:ext cx="392906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USMSB模型概述</a:t>
            </a:r>
            <a:endParaRPr lang="en-US" sz="1238" dirty="0"/>
          </a:p>
        </p:txBody>
      </p:sp>
      <p:sp>
        <p:nvSpPr>
          <p:cNvPr id="28" name="Text 25"/>
          <p:cNvSpPr/>
          <p:nvPr/>
        </p:nvSpPr>
        <p:spPr>
          <a:xfrm>
            <a:off x="4822031" y="1593056"/>
            <a:ext cx="39290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USMSB模型提供了一个通用系统模型视角，包含Agent、Object、Goal、Resource、Rule、Information、Value、Risk、Environment九大核心要素，用于描述复杂社会行为的系统级、宏观层面交互、涌现和演化。</a:t>
            </a:r>
            <a:endParaRPr lang="en-US" sz="837" dirty="0"/>
          </a:p>
        </p:txBody>
      </p:sp>
      <p:sp>
        <p:nvSpPr>
          <p:cNvPr id="29" name="Shape 26"/>
          <p:cNvSpPr/>
          <p:nvPr/>
        </p:nvSpPr>
        <p:spPr>
          <a:xfrm>
            <a:off x="4714875" y="2357438"/>
            <a:ext cx="4143375" cy="1021556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4714875" y="2357438"/>
            <a:ext cx="28575" cy="102155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1" name="Text 28"/>
          <p:cNvSpPr/>
          <p:nvPr/>
        </p:nvSpPr>
        <p:spPr>
          <a:xfrm>
            <a:off x="4822031" y="2464594"/>
            <a:ext cx="392906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与平台需求的契合</a:t>
            </a:r>
            <a:endParaRPr lang="en-US" sz="1238" dirty="0"/>
          </a:p>
        </p:txBody>
      </p:sp>
      <p:sp>
        <p:nvSpPr>
          <p:cNvPr id="32" name="Text 29"/>
          <p:cNvSpPr/>
          <p:nvPr/>
        </p:nvSpPr>
        <p:spPr>
          <a:xfrm>
            <a:off x="4822031" y="2757488"/>
            <a:ext cx="39290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USMSB模型为AI文明新世界平台提供了统一的建模范式，支持Agentcentric设计理念，能够有效管理平台中人与AI Agent的复杂交互，并具备强大的复杂系统建模能力。</a:t>
            </a:r>
            <a:endParaRPr lang="en-US" sz="837" dirty="0"/>
          </a:p>
        </p:txBody>
      </p:sp>
      <p:sp>
        <p:nvSpPr>
          <p:cNvPr id="33" name="Shape 30"/>
          <p:cNvSpPr/>
          <p:nvPr/>
        </p:nvSpPr>
        <p:spPr>
          <a:xfrm>
            <a:off x="4714875" y="3521869"/>
            <a:ext cx="4143375" cy="1021556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4714875" y="3521869"/>
            <a:ext cx="28575" cy="102155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5" name="Text 32"/>
          <p:cNvSpPr/>
          <p:nvPr/>
        </p:nvSpPr>
        <p:spPr>
          <a:xfrm>
            <a:off x="4822031" y="3629025"/>
            <a:ext cx="392906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核心价值与优势</a:t>
            </a:r>
            <a:endParaRPr lang="en-US" sz="1238" dirty="0"/>
          </a:p>
        </p:txBody>
      </p:sp>
      <p:sp>
        <p:nvSpPr>
          <p:cNvPr id="36" name="Text 33"/>
          <p:cNvSpPr/>
          <p:nvPr/>
        </p:nvSpPr>
        <p:spPr>
          <a:xfrm>
            <a:off x="4822031" y="3921919"/>
            <a:ext cx="39290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降低系统复杂性，加速Agentic系统开发，增强系统可解释性与可控性，支持复杂社会行为模拟。相较于传统框架，USMSB更侧重系统级宏观分析和演化。</a:t>
            </a:r>
            <a:endParaRPr lang="en-US" sz="83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2363" b="1" dirty="0" err="1">
                <a:solidFill>
                  <a:srgbClr val="FFFFFF"/>
                </a:solidFill>
                <a:latin typeface="PingFang SC Semibold" panose="020B0400000000000000" pitchFamily="34" charset="-122"/>
                <a:ea typeface="PingFang SC Semibold" panose="020B0400000000000000" pitchFamily="34" charset="-122"/>
              </a:rPr>
              <a:t>IAP协议与雅典娜计划：平台自动运营与智能激活</a:t>
            </a:r>
            <a:endParaRPr lang="en-US" sz="2363" b="1" dirty="0">
              <a:solidFill>
                <a:srgbClr val="FFFFFF"/>
              </a:solidFill>
              <a:latin typeface="PingFang SC Semibold" panose="020B0400000000000000" pitchFamily="34" charset="-122"/>
              <a:ea typeface="PingFang SC Semibold" panose="020B0400000000000000" pitchFamily="34" charset="-122"/>
            </a:endParaRPr>
          </a:p>
        </p:txBody>
      </p:sp>
      <p:sp>
        <p:nvSpPr>
          <p:cNvPr id="4" name="Shape 1"/>
          <p:cNvSpPr/>
          <p:nvPr/>
        </p:nvSpPr>
        <p:spPr>
          <a:xfrm>
            <a:off x="1821656" y="1153716"/>
            <a:ext cx="1071563" cy="571500"/>
          </a:xfrm>
          <a:prstGeom prst="rect">
            <a:avLst/>
          </a:prstGeom>
          <a:solidFill>
            <a:srgbClr val="6366F1">
              <a:alpha val="10000"/>
            </a:srgbClr>
          </a:solidFill>
          <a:ln w="198">
            <a:solidFill>
              <a:srgbClr val="6366F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821656" y="1153716"/>
            <a:ext cx="1071563" cy="57150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IAP协议</a:t>
            </a:r>
            <a:endParaRPr lang="en-US" sz="837" dirty="0"/>
          </a:p>
        </p:txBody>
      </p:sp>
      <p:sp>
        <p:nvSpPr>
          <p:cNvPr id="6" name="Shape 3"/>
          <p:cNvSpPr/>
          <p:nvPr/>
        </p:nvSpPr>
        <p:spPr>
          <a:xfrm>
            <a:off x="571500" y="2046684"/>
            <a:ext cx="1071563" cy="571500"/>
          </a:xfrm>
          <a:prstGeom prst="rect">
            <a:avLst/>
          </a:prstGeom>
          <a:solidFill>
            <a:srgbClr val="6366F1">
              <a:alpha val="10000"/>
            </a:srgbClr>
          </a:solidFill>
          <a:ln w="198">
            <a:solidFill>
              <a:srgbClr val="6366F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2046684"/>
            <a:ext cx="1071563" cy="57150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智能服务体 (ISA)</a:t>
            </a:r>
            <a:endParaRPr lang="en-US" sz="837" dirty="0"/>
          </a:p>
        </p:txBody>
      </p:sp>
      <p:sp>
        <p:nvSpPr>
          <p:cNvPr id="8" name="Shape 5"/>
          <p:cNvSpPr/>
          <p:nvPr/>
        </p:nvSpPr>
        <p:spPr>
          <a:xfrm>
            <a:off x="3071813" y="2046684"/>
            <a:ext cx="1071563" cy="571500"/>
          </a:xfrm>
          <a:prstGeom prst="rect">
            <a:avLst/>
          </a:prstGeom>
          <a:solidFill>
            <a:srgbClr val="6366F1">
              <a:alpha val="10000"/>
            </a:srgbClr>
          </a:solidFill>
          <a:ln w="198">
            <a:solidFill>
              <a:srgbClr val="6366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71813" y="2046684"/>
            <a:ext cx="1071563" cy="57150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个人AI经济代理</a:t>
            </a:r>
            <a:endParaRPr lang="en-US" sz="837" dirty="0"/>
          </a:p>
        </p:txBody>
      </p:sp>
      <p:sp>
        <p:nvSpPr>
          <p:cNvPr id="10" name="Shape 7"/>
          <p:cNvSpPr/>
          <p:nvPr/>
        </p:nvSpPr>
        <p:spPr>
          <a:xfrm>
            <a:off x="1821656" y="2939653"/>
            <a:ext cx="1071563" cy="571500"/>
          </a:xfrm>
          <a:prstGeom prst="rect">
            <a:avLst/>
          </a:prstGeom>
          <a:solidFill>
            <a:srgbClr val="6366F1">
              <a:alpha val="10000"/>
            </a:srgbClr>
          </a:solidFill>
          <a:ln w="198">
            <a:solidFill>
              <a:srgbClr val="6366F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21656" y="2939653"/>
            <a:ext cx="1071563" cy="57150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雅典娜计划</a:t>
            </a:r>
            <a:endParaRPr lang="en-US" sz="837" dirty="0"/>
          </a:p>
        </p:txBody>
      </p:sp>
      <p:sp>
        <p:nvSpPr>
          <p:cNvPr id="12" name="Shape 9"/>
          <p:cNvSpPr/>
          <p:nvPr/>
        </p:nvSpPr>
        <p:spPr>
          <a:xfrm>
            <a:off x="267988" y="3972277"/>
            <a:ext cx="1071563" cy="571500"/>
          </a:xfrm>
          <a:prstGeom prst="rect">
            <a:avLst/>
          </a:prstGeom>
          <a:solidFill>
            <a:srgbClr val="6366F1">
              <a:alpha val="10000"/>
            </a:srgbClr>
          </a:solidFill>
          <a:ln w="198">
            <a:solidFill>
              <a:srgbClr val="6366F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7988" y="3972277"/>
            <a:ext cx="1071563" cy="57150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B端商家</a:t>
            </a:r>
            <a:endParaRPr lang="en-US" sz="837" dirty="0"/>
          </a:p>
        </p:txBody>
      </p:sp>
      <p:sp>
        <p:nvSpPr>
          <p:cNvPr id="14" name="Shape 11"/>
          <p:cNvSpPr/>
          <p:nvPr/>
        </p:nvSpPr>
        <p:spPr>
          <a:xfrm>
            <a:off x="3375324" y="3972277"/>
            <a:ext cx="1071563" cy="571500"/>
          </a:xfrm>
          <a:prstGeom prst="rect">
            <a:avLst/>
          </a:prstGeom>
          <a:solidFill>
            <a:srgbClr val="6366F1">
              <a:alpha val="10000"/>
            </a:srgbClr>
          </a:solidFill>
          <a:ln w="198">
            <a:solidFill>
              <a:srgbClr val="6366F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75324" y="3972277"/>
            <a:ext cx="1071563" cy="57150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C端用户</a:t>
            </a:r>
            <a:endParaRPr lang="en-US" sz="837" dirty="0"/>
          </a:p>
        </p:txBody>
      </p:sp>
      <p:sp>
        <p:nvSpPr>
          <p:cNvPr id="16" name="Shape 13"/>
          <p:cNvSpPr/>
          <p:nvPr/>
        </p:nvSpPr>
        <p:spPr>
          <a:xfrm>
            <a:off x="1821656" y="4154091"/>
            <a:ext cx="1071563" cy="571500"/>
          </a:xfrm>
          <a:prstGeom prst="rect">
            <a:avLst/>
          </a:prstGeom>
          <a:solidFill>
            <a:srgbClr val="6366F1">
              <a:alpha val="10000"/>
            </a:srgbClr>
          </a:solidFill>
          <a:ln w="198">
            <a:solidFill>
              <a:srgbClr val="6366F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821656" y="4154091"/>
            <a:ext cx="1071563" cy="57150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AI文明新世界平台</a:t>
            </a:r>
            <a:endParaRPr lang="en-US" sz="837" dirty="0"/>
          </a:p>
        </p:txBody>
      </p:sp>
      <p:sp>
        <p:nvSpPr>
          <p:cNvPr id="18" name="Shape 15"/>
          <p:cNvSpPr/>
          <p:nvPr/>
        </p:nvSpPr>
        <p:spPr>
          <a:xfrm rot="5400000">
            <a:off x="2350294" y="1796653"/>
            <a:ext cx="14288" cy="3571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Shape 16"/>
          <p:cNvSpPr/>
          <p:nvPr/>
        </p:nvSpPr>
        <p:spPr>
          <a:xfrm rot="-2700000">
            <a:off x="1536352" y="2329921"/>
            <a:ext cx="14288" cy="7143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 rot="2700000">
            <a:off x="3164235" y="2329921"/>
            <a:ext cx="14288" cy="7143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Shape 18"/>
          <p:cNvSpPr/>
          <p:nvPr/>
        </p:nvSpPr>
        <p:spPr>
          <a:xfrm rot="2700000">
            <a:off x="1536352" y="3406510"/>
            <a:ext cx="14288" cy="7143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Shape 19"/>
          <p:cNvSpPr/>
          <p:nvPr/>
        </p:nvSpPr>
        <p:spPr>
          <a:xfrm rot="-2700000">
            <a:off x="3164235" y="3406510"/>
            <a:ext cx="14288" cy="7143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Shape 20"/>
          <p:cNvSpPr/>
          <p:nvPr/>
        </p:nvSpPr>
        <p:spPr>
          <a:xfrm rot="5400000">
            <a:off x="2350294" y="3725466"/>
            <a:ext cx="14288" cy="3571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4714875" y="1364456"/>
            <a:ext cx="4143375" cy="850106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4714875" y="1364456"/>
            <a:ext cx="28575" cy="85010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6" name="Text 23"/>
          <p:cNvSpPr/>
          <p:nvPr/>
        </p:nvSpPr>
        <p:spPr>
          <a:xfrm>
            <a:off x="4822031" y="1471613"/>
            <a:ext cx="392906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IAP协议核心理念</a:t>
            </a:r>
            <a:endParaRPr lang="en-US" sz="1238" dirty="0"/>
          </a:p>
        </p:txBody>
      </p:sp>
      <p:sp>
        <p:nvSpPr>
          <p:cNvPr id="27" name="Text 24"/>
          <p:cNvSpPr/>
          <p:nvPr/>
        </p:nvSpPr>
        <p:spPr>
          <a:xfrm>
            <a:off x="4822031" y="1764506"/>
            <a:ext cx="3929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IAP协议是去中心化、开放、可编程的协议，重构B端和C端关系，将传统“中间商”升级为“智能服务体”，将“消费者”赋能为“自主经济节点”。</a:t>
            </a:r>
            <a:endParaRPr lang="en-US" sz="837" dirty="0"/>
          </a:p>
        </p:txBody>
      </p:sp>
      <p:sp>
        <p:nvSpPr>
          <p:cNvPr id="28" name="Shape 25"/>
          <p:cNvSpPr/>
          <p:nvPr/>
        </p:nvSpPr>
        <p:spPr>
          <a:xfrm>
            <a:off x="4714875" y="2357438"/>
            <a:ext cx="4143375" cy="850106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4714875" y="2357438"/>
            <a:ext cx="28575" cy="85010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0" name="Text 27"/>
          <p:cNvSpPr/>
          <p:nvPr/>
        </p:nvSpPr>
        <p:spPr>
          <a:xfrm>
            <a:off x="4822031" y="2464594"/>
            <a:ext cx="392906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雅典娜计划</a:t>
            </a:r>
            <a:endParaRPr lang="en-US" sz="1238" dirty="0"/>
          </a:p>
        </p:txBody>
      </p:sp>
      <p:sp>
        <p:nvSpPr>
          <p:cNvPr id="31" name="Text 28"/>
          <p:cNvSpPr/>
          <p:nvPr/>
        </p:nvSpPr>
        <p:spPr>
          <a:xfrm>
            <a:off x="4822031" y="2757488"/>
            <a:ext cx="3929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作为平台自动运营的激活与智能基础，通过AI智能体实现自动化运营、价值发现、需求聚合，驱动平台高效运转。</a:t>
            </a:r>
            <a:endParaRPr lang="en-US" sz="837" dirty="0"/>
          </a:p>
        </p:txBody>
      </p:sp>
      <p:sp>
        <p:nvSpPr>
          <p:cNvPr id="32" name="Shape 29"/>
          <p:cNvSpPr/>
          <p:nvPr/>
        </p:nvSpPr>
        <p:spPr>
          <a:xfrm>
            <a:off x="4714875" y="3350419"/>
            <a:ext cx="4143375" cy="1021556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4714875" y="3350419"/>
            <a:ext cx="28575" cy="102155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4" name="Text 31"/>
          <p:cNvSpPr/>
          <p:nvPr/>
        </p:nvSpPr>
        <p:spPr>
          <a:xfrm>
            <a:off x="4822031" y="3457575"/>
            <a:ext cx="392906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平台赋能与技术驱动</a:t>
            </a:r>
            <a:endParaRPr lang="en-US" sz="1238" dirty="0"/>
          </a:p>
        </p:txBody>
      </p:sp>
      <p:sp>
        <p:nvSpPr>
          <p:cNvPr id="35" name="Text 32"/>
          <p:cNvSpPr/>
          <p:nvPr/>
        </p:nvSpPr>
        <p:spPr>
          <a:xfrm>
            <a:off x="4822031" y="3750469"/>
            <a:ext cx="39290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IAP协议与雅典娜计划共同赋能平台上的智能服务体（ISA）和个人AI经济代理，通过流动性协议、估值协议、动态定价智能合约等技术，实现高效协作和价值创造。</a:t>
            </a:r>
            <a:endParaRPr lang="en-US" sz="83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70636"/>
          </a:xfrm>
          <a:prstGeom prst="rect">
            <a:avLst/>
          </a:prstGeom>
          <a:noFill/>
          <a:ln/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2363" b="1" dirty="0" err="1">
                <a:solidFill>
                  <a:srgbClr val="FFFFFF"/>
                </a:solidFill>
                <a:latin typeface="PingFang SC Semibold" panose="020B0400000000000000" pitchFamily="34" charset="-122"/>
                <a:ea typeface="PingFang SC Semibold" panose="020B0400000000000000" pitchFamily="34" charset="-122"/>
              </a:rPr>
              <a:t>商业模式与资金流</a:t>
            </a:r>
            <a:endParaRPr lang="en-US" sz="2363" b="1" dirty="0">
              <a:solidFill>
                <a:srgbClr val="FFFFFF"/>
              </a:solidFill>
              <a:latin typeface="PingFang SC Semibold" panose="020B0400000000000000" pitchFamily="34" charset="-122"/>
              <a:ea typeface="PingFang SC Semibold" panose="020B0400000000000000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285750" y="1021556"/>
            <a:ext cx="414337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资金池形成</a:t>
            </a:r>
            <a:endParaRPr lang="en-US" sz="1575" dirty="0"/>
          </a:p>
        </p:txBody>
      </p:sp>
      <p:sp>
        <p:nvSpPr>
          <p:cNvPr id="5" name="Shape 2"/>
          <p:cNvSpPr/>
          <p:nvPr/>
        </p:nvSpPr>
        <p:spPr>
          <a:xfrm>
            <a:off x="285750" y="1464469"/>
            <a:ext cx="4143375" cy="737229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85750" y="1464469"/>
            <a:ext cx="28575" cy="737229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718770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0100" y="1607344"/>
            <a:ext cx="299457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算力卡质押</a:t>
            </a:r>
            <a:endParaRPr lang="en-US" sz="1238" dirty="0"/>
          </a:p>
        </p:txBody>
      </p:sp>
      <p:sp>
        <p:nvSpPr>
          <p:cNvPr id="9" name="Text 5"/>
          <p:cNvSpPr/>
          <p:nvPr/>
        </p:nvSpPr>
        <p:spPr>
          <a:xfrm>
            <a:off x="800100" y="1878806"/>
            <a:ext cx="2994571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投资人每贡献一张算力卡需向平台质押1000元人民币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285750" y="2344573"/>
            <a:ext cx="4143375" cy="737229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285750" y="2344573"/>
            <a:ext cx="28575" cy="737229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598874"/>
            <a:ext cx="28575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7250" y="2487448"/>
            <a:ext cx="239301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技术服务采购</a:t>
            </a:r>
            <a:endParaRPr lang="en-US" sz="1238" dirty="0"/>
          </a:p>
        </p:txBody>
      </p:sp>
      <p:sp>
        <p:nvSpPr>
          <p:cNvPr id="14" name="Text 9"/>
          <p:cNvSpPr/>
          <p:nvPr/>
        </p:nvSpPr>
        <p:spPr>
          <a:xfrm>
            <a:off x="857250" y="2758911"/>
            <a:ext cx="2393017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企业采购平台服务均价在30-50万元人民币</a:t>
            </a:r>
            <a:endParaRPr lang="en-US" sz="942" dirty="0"/>
          </a:p>
        </p:txBody>
      </p:sp>
      <p:sp>
        <p:nvSpPr>
          <p:cNvPr id="15" name="Shape 10"/>
          <p:cNvSpPr/>
          <p:nvPr/>
        </p:nvSpPr>
        <p:spPr>
          <a:xfrm>
            <a:off x="285750" y="3224678"/>
            <a:ext cx="4143375" cy="737229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16" name="Shape 11"/>
          <p:cNvSpPr/>
          <p:nvPr/>
        </p:nvSpPr>
        <p:spPr>
          <a:xfrm>
            <a:off x="285750" y="3224678"/>
            <a:ext cx="28575" cy="737229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3478978"/>
            <a:ext cx="200025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1525" y="3367553"/>
            <a:ext cx="260880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人才引入补助</a:t>
            </a:r>
            <a:endParaRPr lang="en-US" sz="1238" dirty="0"/>
          </a:p>
        </p:txBody>
      </p:sp>
      <p:sp>
        <p:nvSpPr>
          <p:cNvPr id="19" name="Text 13"/>
          <p:cNvSpPr/>
          <p:nvPr/>
        </p:nvSpPr>
        <p:spPr>
          <a:xfrm>
            <a:off x="771525" y="3639015"/>
            <a:ext cx="260880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每成功引入专业人才获政府补助1000元人民币</a:t>
            </a:r>
            <a:endParaRPr lang="en-US" sz="942" dirty="0"/>
          </a:p>
        </p:txBody>
      </p:sp>
      <p:sp>
        <p:nvSpPr>
          <p:cNvPr id="20" name="Text 14"/>
          <p:cNvSpPr/>
          <p:nvPr/>
        </p:nvSpPr>
        <p:spPr>
          <a:xfrm>
            <a:off x="4714875" y="1021556"/>
            <a:ext cx="414337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平台数字货币</a:t>
            </a:r>
            <a:endParaRPr lang="en-US" sz="1575" dirty="0"/>
          </a:p>
        </p:txBody>
      </p:sp>
      <p:sp>
        <p:nvSpPr>
          <p:cNvPr id="21" name="Shape 15"/>
          <p:cNvSpPr/>
          <p:nvPr/>
        </p:nvSpPr>
        <p:spPr>
          <a:xfrm>
            <a:off x="4714875" y="1464469"/>
            <a:ext cx="4143375" cy="737229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22" name="Shape 16"/>
          <p:cNvSpPr/>
          <p:nvPr/>
        </p:nvSpPr>
        <p:spPr>
          <a:xfrm>
            <a:off x="4714875" y="1464469"/>
            <a:ext cx="28575" cy="737229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1718770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229225" y="1607344"/>
            <a:ext cx="231460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内部流通</a:t>
            </a:r>
            <a:endParaRPr lang="en-US" sz="1238" dirty="0"/>
          </a:p>
        </p:txBody>
      </p:sp>
      <p:sp>
        <p:nvSpPr>
          <p:cNvPr id="25" name="Text 18"/>
          <p:cNvSpPr/>
          <p:nvPr/>
        </p:nvSpPr>
        <p:spPr>
          <a:xfrm>
            <a:off x="5229225" y="1878806"/>
            <a:ext cx="2314603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平台内部流通的数字货币，促进生态交易</a:t>
            </a:r>
            <a:endParaRPr lang="en-US" sz="942" dirty="0"/>
          </a:p>
        </p:txBody>
      </p:sp>
      <p:sp>
        <p:nvSpPr>
          <p:cNvPr id="26" name="Shape 19"/>
          <p:cNvSpPr/>
          <p:nvPr/>
        </p:nvSpPr>
        <p:spPr>
          <a:xfrm>
            <a:off x="4714875" y="2344573"/>
            <a:ext cx="4143375" cy="737229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27" name="Shape 20"/>
          <p:cNvSpPr/>
          <p:nvPr/>
        </p:nvSpPr>
        <p:spPr>
          <a:xfrm>
            <a:off x="4714875" y="2344573"/>
            <a:ext cx="28575" cy="737229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0" y="2598874"/>
            <a:ext cx="257175" cy="2286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257800" y="2487448"/>
            <a:ext cx="167166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获取方式</a:t>
            </a:r>
            <a:endParaRPr lang="en-US" sz="1238" dirty="0"/>
          </a:p>
        </p:txBody>
      </p:sp>
      <p:sp>
        <p:nvSpPr>
          <p:cNvPr id="30" name="Text 22"/>
          <p:cNvSpPr/>
          <p:nvPr/>
        </p:nvSpPr>
        <p:spPr>
          <a:xfrm>
            <a:off x="5257800" y="2758911"/>
            <a:ext cx="167166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贡献和提供服务可获得平台币</a:t>
            </a:r>
            <a:endParaRPr lang="en-US" sz="942" dirty="0"/>
          </a:p>
        </p:txBody>
      </p:sp>
      <p:sp>
        <p:nvSpPr>
          <p:cNvPr id="31" name="Shape 23"/>
          <p:cNvSpPr/>
          <p:nvPr/>
        </p:nvSpPr>
        <p:spPr>
          <a:xfrm>
            <a:off x="4714875" y="3224678"/>
            <a:ext cx="4143375" cy="737229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32" name="Shape 24"/>
          <p:cNvSpPr/>
          <p:nvPr/>
        </p:nvSpPr>
        <p:spPr>
          <a:xfrm>
            <a:off x="4714875" y="3224678"/>
            <a:ext cx="28575" cy="737229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0" y="3478978"/>
            <a:ext cx="257175" cy="22860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257800" y="3367553"/>
            <a:ext cx="179740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使用场景</a:t>
            </a:r>
            <a:endParaRPr lang="en-US" sz="1238" dirty="0"/>
          </a:p>
        </p:txBody>
      </p:sp>
      <p:sp>
        <p:nvSpPr>
          <p:cNvPr id="35" name="Text 26"/>
          <p:cNvSpPr/>
          <p:nvPr/>
        </p:nvSpPr>
        <p:spPr>
          <a:xfrm>
            <a:off x="5257800" y="3639015"/>
            <a:ext cx="1797407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购买AI产品和服务，或兑换法币</a:t>
            </a:r>
            <a:endParaRPr lang="en-US" sz="942" dirty="0"/>
          </a:p>
        </p:txBody>
      </p:sp>
      <p:sp>
        <p:nvSpPr>
          <p:cNvPr id="36" name="Shape 27"/>
          <p:cNvSpPr/>
          <p:nvPr/>
        </p:nvSpPr>
        <p:spPr>
          <a:xfrm>
            <a:off x="4714875" y="4104782"/>
            <a:ext cx="4143375" cy="737229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37" name="Shape 28"/>
          <p:cNvSpPr/>
          <p:nvPr/>
        </p:nvSpPr>
        <p:spPr>
          <a:xfrm>
            <a:off x="4714875" y="4104782"/>
            <a:ext cx="28575" cy="737229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0" y="4359083"/>
            <a:ext cx="200025" cy="22860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200650" y="4247657"/>
            <a:ext cx="218601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技术特点</a:t>
            </a:r>
            <a:endParaRPr lang="en-US" sz="1238" dirty="0"/>
          </a:p>
        </p:txBody>
      </p:sp>
      <p:sp>
        <p:nvSpPr>
          <p:cNvPr id="40" name="Text 30"/>
          <p:cNvSpPr/>
          <p:nvPr/>
        </p:nvSpPr>
        <p:spPr>
          <a:xfrm>
            <a:off x="5200650" y="4519120"/>
            <a:ext cx="218601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区块链加密货币，总量有限，定期释放</a:t>
            </a:r>
            <a:endParaRPr lang="en-US" sz="94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2363" b="1" dirty="0" err="1">
                <a:solidFill>
                  <a:srgbClr val="FFFFFF"/>
                </a:solidFill>
                <a:latin typeface="PingFang SC Semibold" panose="020B0400000000000000" pitchFamily="34" charset="-122"/>
                <a:ea typeface="PingFang SC Semibold" panose="020B0400000000000000" pitchFamily="34" charset="-122"/>
              </a:rPr>
              <a:t>商业模式创新：效果导向的综合解决方案</a:t>
            </a:r>
            <a:endParaRPr lang="en-US" sz="2363" b="1" dirty="0">
              <a:solidFill>
                <a:srgbClr val="FFFFFF"/>
              </a:solidFill>
              <a:latin typeface="PingFang SC Semibold" panose="020B0400000000000000" pitchFamily="34" charset="-122"/>
              <a:ea typeface="PingFang SC Semibold" panose="020B0400000000000000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285750" y="1021556"/>
            <a:ext cx="8572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从单一服务收益点转向提供整合的、按效果付费的综合解决方案，实现客户价值最大化。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285750" y="1664494"/>
            <a:ext cx="4179094" cy="3193256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85750" y="1664494"/>
            <a:ext cx="28575" cy="319325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44" y="1871663"/>
            <a:ext cx="150019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1843088"/>
            <a:ext cx="97247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B端解决方案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60772" y="2607088"/>
            <a:ext cx="382190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为企业客户提供深度定制的AI服务与能力开放，实现业务增长。</a:t>
            </a:r>
            <a:endParaRPr lang="en-US" sz="837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44" y="3415424"/>
            <a:ext cx="107156" cy="1071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8650" y="3393992"/>
            <a:ext cx="87985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行业深度定制AI解决方案</a:t>
            </a:r>
            <a:endParaRPr lang="en-US" sz="785" dirty="0"/>
          </a:p>
        </p:txBody>
      </p:sp>
      <p:sp>
        <p:nvSpPr>
          <p:cNvPr id="12" name="Text 7"/>
          <p:cNvSpPr/>
          <p:nvPr/>
        </p:nvSpPr>
        <p:spPr>
          <a:xfrm>
            <a:off x="1508503" y="3393992"/>
            <a:ext cx="2777747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：针对法律、金融、制造等特定行业提供端到端AI解决方案，按项目效果分成。</a:t>
            </a:r>
            <a:endParaRPr lang="en-US" sz="785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72" y="4123398"/>
            <a:ext cx="107156" cy="1071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5078" y="4101967"/>
            <a:ext cx="83590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AI能力开放平台与定制服务</a:t>
            </a:r>
            <a:endParaRPr lang="en-US" sz="785" dirty="0"/>
          </a:p>
        </p:txBody>
      </p:sp>
      <p:sp>
        <p:nvSpPr>
          <p:cNvPr id="15" name="Text 9"/>
          <p:cNvSpPr/>
          <p:nvPr/>
        </p:nvSpPr>
        <p:spPr>
          <a:xfrm>
            <a:off x="1460980" y="4101967"/>
            <a:ext cx="282169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：提供算力、数据、模型、Agent等核心AI能力，并支持定制化开发，按订阅和使用量付费。</a:t>
            </a:r>
            <a:endParaRPr lang="en-US" sz="785" dirty="0"/>
          </a:p>
        </p:txBody>
      </p:sp>
      <p:sp>
        <p:nvSpPr>
          <p:cNvPr id="16" name="Shape 10"/>
          <p:cNvSpPr/>
          <p:nvPr/>
        </p:nvSpPr>
        <p:spPr>
          <a:xfrm>
            <a:off x="4679156" y="1664494"/>
            <a:ext cx="4179094" cy="3193256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17" name="Shape 11"/>
          <p:cNvSpPr/>
          <p:nvPr/>
        </p:nvSpPr>
        <p:spPr>
          <a:xfrm>
            <a:off x="4679156" y="1664494"/>
            <a:ext cx="28575" cy="319325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1871663"/>
            <a:ext cx="175022" cy="2000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104209" y="1843088"/>
            <a:ext cx="96647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C端会员订阅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4857750" y="2849659"/>
            <a:ext cx="382190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赋能具有专业能力（本科以上学历，经常使用电脑）的个人用户，提升其AI时代生产力。</a:t>
            </a:r>
            <a:endParaRPr lang="en-US" sz="837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1118" y="3463925"/>
            <a:ext cx="107156" cy="10715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005424" y="3442494"/>
            <a:ext cx="42862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目标用户</a:t>
            </a:r>
            <a:endParaRPr lang="en-US" sz="785" dirty="0"/>
          </a:p>
        </p:txBody>
      </p:sp>
      <p:sp>
        <p:nvSpPr>
          <p:cNvPr id="23" name="Text 15"/>
          <p:cNvSpPr/>
          <p:nvPr/>
        </p:nvSpPr>
        <p:spPr>
          <a:xfrm>
            <a:off x="5434049" y="3442494"/>
            <a:ext cx="214078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：专业人士、研究员、开发者、AI训练师等。</a:t>
            </a:r>
            <a:endParaRPr lang="en-US" sz="785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1118" y="3848401"/>
            <a:ext cx="107156" cy="10715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005424" y="3826970"/>
            <a:ext cx="31279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会员权益</a:t>
            </a:r>
            <a:endParaRPr lang="en-US" sz="785" dirty="0"/>
          </a:p>
        </p:txBody>
      </p:sp>
      <p:sp>
        <p:nvSpPr>
          <p:cNvPr id="26" name="Text 17"/>
          <p:cNvSpPr/>
          <p:nvPr/>
        </p:nvSpPr>
        <p:spPr>
          <a:xfrm>
            <a:off x="5318214" y="3826970"/>
            <a:ext cx="334481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：提供算力配额、数据集访问、Agent工具使用、专业社区交流、项目协作机会、专属AI模型等。</a:t>
            </a:r>
            <a:endParaRPr lang="en-US" sz="785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0" y="4504134"/>
            <a:ext cx="107156" cy="107156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022056" y="4482703"/>
            <a:ext cx="42862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价值主张</a:t>
            </a:r>
            <a:endParaRPr lang="en-US" sz="785" dirty="0"/>
          </a:p>
        </p:txBody>
      </p:sp>
      <p:sp>
        <p:nvSpPr>
          <p:cNvPr id="29" name="Text 19"/>
          <p:cNvSpPr/>
          <p:nvPr/>
        </p:nvSpPr>
        <p:spPr>
          <a:xfrm>
            <a:off x="5450681" y="4482703"/>
            <a:ext cx="321234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：成为AI时代的先行者，通过平台实现个人价值最大化和职业发展。</a:t>
            </a:r>
            <a:endParaRPr lang="en-US" sz="78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720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2363" b="1" dirty="0" err="1">
                <a:solidFill>
                  <a:srgbClr val="FFFFFF"/>
                </a:solidFill>
                <a:latin typeface="PingFang SC Semibold" panose="020B0400000000000000" pitchFamily="34" charset="-122"/>
                <a:ea typeface="PingFang SC Semibold" panose="020B0400000000000000" pitchFamily="34" charset="-122"/>
              </a:rPr>
              <a:t>盈利模式与可持续增长</a:t>
            </a:r>
            <a:endParaRPr lang="en-US" sz="2363" b="1" dirty="0">
              <a:solidFill>
                <a:srgbClr val="FFFFFF"/>
              </a:solidFill>
              <a:latin typeface="PingFang SC Semibold" panose="020B0400000000000000" pitchFamily="34" charset="-122"/>
              <a:ea typeface="PingFang SC Semibold" panose="020B0400000000000000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285750" y="1021556"/>
            <a:ext cx="414337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B端盈利</a:t>
            </a:r>
            <a:endParaRPr lang="en-US" sz="1575" dirty="0"/>
          </a:p>
        </p:txBody>
      </p:sp>
      <p:sp>
        <p:nvSpPr>
          <p:cNvPr id="5" name="Shape 2"/>
          <p:cNvSpPr/>
          <p:nvPr/>
        </p:nvSpPr>
        <p:spPr>
          <a:xfrm>
            <a:off x="285750" y="1464469"/>
            <a:ext cx="4143375" cy="750094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85750" y="1464469"/>
            <a:ext cx="28575" cy="750094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639491"/>
            <a:ext cx="214313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4375" y="1607344"/>
            <a:ext cx="62867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效果分成</a:t>
            </a:r>
            <a:endParaRPr lang="en-US" sz="1238" dirty="0"/>
          </a:p>
        </p:txBody>
      </p:sp>
      <p:sp>
        <p:nvSpPr>
          <p:cNvPr id="9" name="Text 5"/>
          <p:cNvSpPr/>
          <p:nvPr/>
        </p:nvSpPr>
        <p:spPr>
          <a:xfrm>
            <a:off x="428625" y="1900238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基于项目成功和实际业务增长进行分成，与客户利益深度绑定。</a:t>
            </a:r>
            <a:endParaRPr lang="en-US" sz="837" dirty="0"/>
          </a:p>
        </p:txBody>
      </p:sp>
      <p:sp>
        <p:nvSpPr>
          <p:cNvPr id="10" name="Shape 6"/>
          <p:cNvSpPr/>
          <p:nvPr/>
        </p:nvSpPr>
        <p:spPr>
          <a:xfrm>
            <a:off x="285750" y="2321719"/>
            <a:ext cx="4143375" cy="750094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285750" y="2321719"/>
            <a:ext cx="28575" cy="750094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496741"/>
            <a:ext cx="107156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7219" y="2464594"/>
            <a:ext cx="78584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服务订阅费</a:t>
            </a:r>
            <a:endParaRPr lang="en-US" sz="1238" dirty="0"/>
          </a:p>
        </p:txBody>
      </p:sp>
      <p:sp>
        <p:nvSpPr>
          <p:cNvPr id="14" name="Text 9"/>
          <p:cNvSpPr/>
          <p:nvPr/>
        </p:nvSpPr>
        <p:spPr>
          <a:xfrm>
            <a:off x="428625" y="2757488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AI能力开放平台的高级功能订阅，提供持续性收入。</a:t>
            </a:r>
            <a:endParaRPr lang="en-US" sz="837" dirty="0"/>
          </a:p>
        </p:txBody>
      </p:sp>
      <p:sp>
        <p:nvSpPr>
          <p:cNvPr id="15" name="Shape 10"/>
          <p:cNvSpPr/>
          <p:nvPr/>
        </p:nvSpPr>
        <p:spPr>
          <a:xfrm>
            <a:off x="285750" y="3178969"/>
            <a:ext cx="4143375" cy="750094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16" name="Shape 11"/>
          <p:cNvSpPr/>
          <p:nvPr/>
        </p:nvSpPr>
        <p:spPr>
          <a:xfrm>
            <a:off x="285750" y="3178969"/>
            <a:ext cx="28575" cy="750094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3353991"/>
            <a:ext cx="214313" cy="1714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4375" y="3321844"/>
            <a:ext cx="78584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定制开发费</a:t>
            </a:r>
            <a:endParaRPr lang="en-US" sz="1238" dirty="0"/>
          </a:p>
        </p:txBody>
      </p:sp>
      <p:sp>
        <p:nvSpPr>
          <p:cNvPr id="19" name="Text 13"/>
          <p:cNvSpPr/>
          <p:nvPr/>
        </p:nvSpPr>
        <p:spPr>
          <a:xfrm>
            <a:off x="428625" y="3614738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针对复杂需求的定制化解决方案开发费用。</a:t>
            </a:r>
            <a:endParaRPr lang="en-US" sz="837" dirty="0"/>
          </a:p>
        </p:txBody>
      </p:sp>
      <p:sp>
        <p:nvSpPr>
          <p:cNvPr id="20" name="Text 14"/>
          <p:cNvSpPr/>
          <p:nvPr/>
        </p:nvSpPr>
        <p:spPr>
          <a:xfrm>
            <a:off x="4714875" y="1021556"/>
            <a:ext cx="414337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C端盈利</a:t>
            </a:r>
            <a:endParaRPr lang="en-US" sz="1575" dirty="0"/>
          </a:p>
        </p:txBody>
      </p:sp>
      <p:sp>
        <p:nvSpPr>
          <p:cNvPr id="21" name="Shape 15"/>
          <p:cNvSpPr/>
          <p:nvPr/>
        </p:nvSpPr>
        <p:spPr>
          <a:xfrm>
            <a:off x="4714875" y="1464469"/>
            <a:ext cx="4143375" cy="750094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22" name="Shape 16"/>
          <p:cNvSpPr/>
          <p:nvPr/>
        </p:nvSpPr>
        <p:spPr>
          <a:xfrm>
            <a:off x="4714875" y="1464469"/>
            <a:ext cx="28575" cy="750094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1639491"/>
            <a:ext cx="214313" cy="17145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43500" y="1607344"/>
            <a:ext cx="78584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会员订阅费</a:t>
            </a:r>
            <a:endParaRPr lang="en-US" sz="1238" dirty="0"/>
          </a:p>
        </p:txBody>
      </p:sp>
      <p:sp>
        <p:nvSpPr>
          <p:cNvPr id="25" name="Text 18"/>
          <p:cNvSpPr/>
          <p:nvPr/>
        </p:nvSpPr>
        <p:spPr>
          <a:xfrm>
            <a:off x="4857750" y="1900238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分级会员制度（基础、高级、专业），提供不同权益和增值服务。</a:t>
            </a:r>
            <a:endParaRPr lang="en-US" sz="837" dirty="0"/>
          </a:p>
        </p:txBody>
      </p:sp>
      <p:sp>
        <p:nvSpPr>
          <p:cNvPr id="26" name="Shape 19"/>
          <p:cNvSpPr/>
          <p:nvPr/>
        </p:nvSpPr>
        <p:spPr>
          <a:xfrm>
            <a:off x="4714875" y="2321719"/>
            <a:ext cx="4143375" cy="750094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27" name="Shape 20"/>
          <p:cNvSpPr/>
          <p:nvPr/>
        </p:nvSpPr>
        <p:spPr>
          <a:xfrm>
            <a:off x="4714875" y="2321719"/>
            <a:ext cx="28575" cy="750094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0" y="2496741"/>
            <a:ext cx="171450" cy="17145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100638" y="2464594"/>
            <a:ext cx="62867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增值服务</a:t>
            </a:r>
            <a:endParaRPr lang="en-US" sz="1238" dirty="0"/>
          </a:p>
        </p:txBody>
      </p:sp>
      <p:sp>
        <p:nvSpPr>
          <p:cNvPr id="30" name="Text 22"/>
          <p:cNvSpPr/>
          <p:nvPr/>
        </p:nvSpPr>
        <p:spPr>
          <a:xfrm>
            <a:off x="4857750" y="2757488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高级Agent工具、专属数据集、专家咨询、培训课程等。</a:t>
            </a:r>
            <a:endParaRPr lang="en-US" sz="837" dirty="0"/>
          </a:p>
        </p:txBody>
      </p:sp>
      <p:sp>
        <p:nvSpPr>
          <p:cNvPr id="31" name="Shape 23"/>
          <p:cNvSpPr/>
          <p:nvPr/>
        </p:nvSpPr>
        <p:spPr>
          <a:xfrm>
            <a:off x="4714875" y="3178969"/>
            <a:ext cx="4143375" cy="750094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32" name="Shape 24"/>
          <p:cNvSpPr/>
          <p:nvPr/>
        </p:nvSpPr>
        <p:spPr>
          <a:xfrm>
            <a:off x="4714875" y="3178969"/>
            <a:ext cx="28575" cy="750094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0" y="3353991"/>
            <a:ext cx="171450" cy="17145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100638" y="3321844"/>
            <a:ext cx="141449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数字货币交易手续费</a:t>
            </a:r>
            <a:endParaRPr lang="en-US" sz="1238" dirty="0"/>
          </a:p>
        </p:txBody>
      </p:sp>
      <p:sp>
        <p:nvSpPr>
          <p:cNvPr id="35" name="Text 26"/>
          <p:cNvSpPr/>
          <p:nvPr/>
        </p:nvSpPr>
        <p:spPr>
          <a:xfrm>
            <a:off x="4857750" y="3614738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平台内部数字货币流通和兑换产生的手续费。</a:t>
            </a:r>
            <a:endParaRPr lang="en-US" sz="837" dirty="0"/>
          </a:p>
        </p:txBody>
      </p:sp>
      <p:sp>
        <p:nvSpPr>
          <p:cNvPr id="36" name="Text 27"/>
          <p:cNvSpPr/>
          <p:nvPr/>
        </p:nvSpPr>
        <p:spPr>
          <a:xfrm>
            <a:off x="285750" y="4176389"/>
            <a:ext cx="85725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增长路径</a:t>
            </a:r>
            <a:endParaRPr lang="en-US" sz="1575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43094" y="4644305"/>
            <a:ext cx="107156" cy="142875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2521688" y="4619302"/>
            <a:ext cx="77155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持续技术创新</a:t>
            </a:r>
            <a:endParaRPr lang="en-US" sz="942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07553" y="4644305"/>
            <a:ext cx="178594" cy="142875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3757585" y="4619302"/>
            <a:ext cx="77155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生态伙伴拓展</a:t>
            </a:r>
            <a:endParaRPr lang="en-US" sz="942" dirty="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43450" y="4644305"/>
            <a:ext cx="142875" cy="142875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4957763" y="4619302"/>
            <a:ext cx="77155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用户规模增长</a:t>
            </a:r>
            <a:endParaRPr lang="en-US" sz="942" dirty="0"/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43628" y="4644305"/>
            <a:ext cx="142875" cy="142875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6157940" y="4619302"/>
            <a:ext cx="64296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国际化战略</a:t>
            </a:r>
            <a:endParaRPr lang="en-US" sz="94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2363" b="1" dirty="0" err="1">
                <a:solidFill>
                  <a:srgbClr val="FFFFFF"/>
                </a:solidFill>
                <a:latin typeface="PingFang SC Semibold" panose="020B0400000000000000" pitchFamily="34" charset="-122"/>
                <a:ea typeface="PingFang SC Semibold" panose="020B0400000000000000" pitchFamily="34" charset="-122"/>
              </a:rPr>
              <a:t>核心技术与运营</a:t>
            </a:r>
            <a:endParaRPr lang="en-US" sz="2363" b="1" dirty="0">
              <a:solidFill>
                <a:srgbClr val="FFFFFF"/>
              </a:solidFill>
              <a:latin typeface="PingFang SC Semibold" panose="020B0400000000000000" pitchFamily="34" charset="-122"/>
              <a:ea typeface="PingFang SC Semibold" panose="020B0400000000000000" pitchFamily="34" charset="-122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85750" y="1021556"/>
            <a:ext cx="4143375" cy="742950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1021556"/>
            <a:ext cx="28575" cy="74295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200150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2938" y="1164431"/>
            <a:ext cx="4286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应用层 </a:t>
            </a:r>
            <a:endParaRPr lang="en-US" sz="1046" dirty="0"/>
          </a:p>
        </p:txBody>
      </p:sp>
      <p:sp>
        <p:nvSpPr>
          <p:cNvPr id="8" name="Text 4"/>
          <p:cNvSpPr/>
          <p:nvPr/>
        </p:nvSpPr>
        <p:spPr>
          <a:xfrm>
            <a:off x="428625" y="1450181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AI产品与服务、智能应用场景、用户交互界面</a:t>
            </a:r>
            <a:endParaRPr lang="en-US" sz="837" dirty="0"/>
          </a:p>
        </p:txBody>
      </p:sp>
      <p:sp>
        <p:nvSpPr>
          <p:cNvPr id="9" name="Shape 5"/>
          <p:cNvSpPr/>
          <p:nvPr/>
        </p:nvSpPr>
        <p:spPr>
          <a:xfrm>
            <a:off x="285750" y="1871663"/>
            <a:ext cx="4143375" cy="742950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285750" y="1871663"/>
            <a:ext cx="28575" cy="74295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050256"/>
            <a:ext cx="178594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78656" y="2014538"/>
            <a:ext cx="4286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技术层 </a:t>
            </a:r>
            <a:endParaRPr lang="en-US" sz="1046" dirty="0"/>
          </a:p>
        </p:txBody>
      </p:sp>
      <p:sp>
        <p:nvSpPr>
          <p:cNvPr id="13" name="Text 8"/>
          <p:cNvSpPr/>
          <p:nvPr/>
        </p:nvSpPr>
        <p:spPr>
          <a:xfrm>
            <a:off x="428625" y="2300288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神经网络、机器学习、区块链技术、互联网技术</a:t>
            </a:r>
            <a:endParaRPr lang="en-US" sz="837" dirty="0"/>
          </a:p>
        </p:txBody>
      </p:sp>
      <p:sp>
        <p:nvSpPr>
          <p:cNvPr id="14" name="Shape 9"/>
          <p:cNvSpPr/>
          <p:nvPr/>
        </p:nvSpPr>
        <p:spPr>
          <a:xfrm>
            <a:off x="285750" y="2721769"/>
            <a:ext cx="4143375" cy="742950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15" name="Shape 10"/>
          <p:cNvSpPr/>
          <p:nvPr/>
        </p:nvSpPr>
        <p:spPr>
          <a:xfrm>
            <a:off x="285750" y="2721769"/>
            <a:ext cx="28575" cy="74295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2900363"/>
            <a:ext cx="125016" cy="1428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5078" y="2864644"/>
            <a:ext cx="4286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数据层 </a:t>
            </a:r>
            <a:endParaRPr lang="en-US" sz="1046" dirty="0"/>
          </a:p>
        </p:txBody>
      </p:sp>
      <p:sp>
        <p:nvSpPr>
          <p:cNvPr id="18" name="Text 12"/>
          <p:cNvSpPr/>
          <p:nvPr/>
        </p:nvSpPr>
        <p:spPr>
          <a:xfrm>
            <a:off x="428625" y="3150394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高质量数据集、算法应用场景、数据处理与标注</a:t>
            </a:r>
            <a:endParaRPr lang="en-US" sz="837" dirty="0"/>
          </a:p>
        </p:txBody>
      </p:sp>
      <p:sp>
        <p:nvSpPr>
          <p:cNvPr id="19" name="Shape 13"/>
          <p:cNvSpPr/>
          <p:nvPr/>
        </p:nvSpPr>
        <p:spPr>
          <a:xfrm>
            <a:off x="285750" y="3571875"/>
            <a:ext cx="4143375" cy="742950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20" name="Shape 14"/>
          <p:cNvSpPr/>
          <p:nvPr/>
        </p:nvSpPr>
        <p:spPr>
          <a:xfrm>
            <a:off x="285750" y="3571875"/>
            <a:ext cx="28575" cy="74295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3750469"/>
            <a:ext cx="142875" cy="14287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2938" y="3714750"/>
            <a:ext cx="7143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基础设施层 </a:t>
            </a:r>
            <a:endParaRPr lang="en-US" sz="1046" dirty="0"/>
          </a:p>
        </p:txBody>
      </p:sp>
      <p:sp>
        <p:nvSpPr>
          <p:cNvPr id="23" name="Text 16"/>
          <p:cNvSpPr/>
          <p:nvPr/>
        </p:nvSpPr>
        <p:spPr>
          <a:xfrm>
            <a:off x="428625" y="4000500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算力资源、存储系统、网络基础设施</a:t>
            </a:r>
            <a:endParaRPr lang="en-US" sz="837" dirty="0"/>
          </a:p>
        </p:txBody>
      </p:sp>
      <p:sp>
        <p:nvSpPr>
          <p:cNvPr id="24" name="Text 17"/>
          <p:cNvSpPr/>
          <p:nvPr/>
        </p:nvSpPr>
        <p:spPr>
          <a:xfrm>
            <a:off x="4714875" y="1021556"/>
            <a:ext cx="4143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核心技术支柱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4714875" y="1564481"/>
            <a:ext cx="2018109" cy="1144395"/>
          </a:xfrm>
          <a:prstGeom prst="rect">
            <a:avLst/>
          </a:prstGeom>
          <a:solidFill>
            <a:srgbClr val="6366F1">
              <a:alpha val="10000"/>
            </a:srgbClr>
          </a:solidFill>
          <a:ln w="198">
            <a:solidFill>
              <a:srgbClr val="10B981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9630" y="1707356"/>
            <a:ext cx="228600" cy="2286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857750" y="2007394"/>
            <a:ext cx="173235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神经网络与机器学习</a:t>
            </a:r>
            <a:endParaRPr lang="en-US" sz="942" dirty="0"/>
          </a:p>
        </p:txBody>
      </p:sp>
      <p:sp>
        <p:nvSpPr>
          <p:cNvPr id="28" name="Text 20"/>
          <p:cNvSpPr/>
          <p:nvPr/>
        </p:nvSpPr>
        <p:spPr>
          <a:xfrm>
            <a:off x="4857750" y="2257425"/>
            <a:ext cx="173235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应用先进的深度学习技术，构建智能模型和算法框架</a:t>
            </a:r>
            <a:endParaRPr lang="en-US" sz="732" dirty="0"/>
          </a:p>
        </p:txBody>
      </p:sp>
      <p:sp>
        <p:nvSpPr>
          <p:cNvPr id="29" name="Shape 21"/>
          <p:cNvSpPr/>
          <p:nvPr/>
        </p:nvSpPr>
        <p:spPr>
          <a:xfrm>
            <a:off x="6840141" y="1564481"/>
            <a:ext cx="2018109" cy="1144395"/>
          </a:xfrm>
          <a:prstGeom prst="rect">
            <a:avLst/>
          </a:prstGeom>
          <a:solidFill>
            <a:srgbClr val="6366F1">
              <a:alpha val="10000"/>
            </a:srgbClr>
          </a:solidFill>
          <a:ln w="198">
            <a:solidFill>
              <a:srgbClr val="6366F1"/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06320" y="1707356"/>
            <a:ext cx="285750" cy="2286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983016" y="2007394"/>
            <a:ext cx="173235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区块链技术</a:t>
            </a:r>
            <a:endParaRPr lang="en-US" sz="942" dirty="0"/>
          </a:p>
        </p:txBody>
      </p:sp>
      <p:sp>
        <p:nvSpPr>
          <p:cNvPr id="32" name="Text 23"/>
          <p:cNvSpPr/>
          <p:nvPr/>
        </p:nvSpPr>
        <p:spPr>
          <a:xfrm>
            <a:off x="6983016" y="2257425"/>
            <a:ext cx="173235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实现平台数字货币流通和去中心化治理机制</a:t>
            </a:r>
            <a:endParaRPr lang="en-US" sz="732" dirty="0"/>
          </a:p>
        </p:txBody>
      </p:sp>
      <p:sp>
        <p:nvSpPr>
          <p:cNvPr id="33" name="Shape 24"/>
          <p:cNvSpPr/>
          <p:nvPr/>
        </p:nvSpPr>
        <p:spPr>
          <a:xfrm>
            <a:off x="4714875" y="2787458"/>
            <a:ext cx="2018109" cy="1004395"/>
          </a:xfrm>
          <a:prstGeom prst="rect">
            <a:avLst/>
          </a:prstGeom>
          <a:solidFill>
            <a:srgbClr val="6366F1">
              <a:alpha val="10000"/>
            </a:srgbClr>
          </a:solidFill>
          <a:ln w="198">
            <a:solidFill>
              <a:srgbClr val="3B82F6"/>
            </a:solidFill>
            <a:prstDash val="solid"/>
          </a:ln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09630" y="2930333"/>
            <a:ext cx="228600" cy="22860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4857750" y="3230370"/>
            <a:ext cx="173235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互联网技术</a:t>
            </a:r>
            <a:endParaRPr lang="en-US" sz="942" dirty="0"/>
          </a:p>
        </p:txBody>
      </p:sp>
      <p:sp>
        <p:nvSpPr>
          <p:cNvPr id="36" name="Text 26"/>
          <p:cNvSpPr/>
          <p:nvPr/>
        </p:nvSpPr>
        <p:spPr>
          <a:xfrm>
            <a:off x="4857750" y="3480402"/>
            <a:ext cx="1732359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提供全球化连接和服务访问能力</a:t>
            </a:r>
            <a:endParaRPr lang="en-US" sz="732" dirty="0"/>
          </a:p>
        </p:txBody>
      </p:sp>
      <p:sp>
        <p:nvSpPr>
          <p:cNvPr id="37" name="Shape 27"/>
          <p:cNvSpPr/>
          <p:nvPr/>
        </p:nvSpPr>
        <p:spPr>
          <a:xfrm>
            <a:off x="6840141" y="2787458"/>
            <a:ext cx="2018109" cy="1004395"/>
          </a:xfrm>
          <a:prstGeom prst="rect">
            <a:avLst/>
          </a:prstGeom>
          <a:solidFill>
            <a:srgbClr val="6366F1">
              <a:alpha val="10000"/>
            </a:srgbClr>
          </a:solidFill>
          <a:ln w="198">
            <a:solidFill>
              <a:srgbClr val="F59E0B"/>
            </a:solidFill>
            <a:prstDash val="solid"/>
          </a:ln>
        </p:spPr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0608" y="2930333"/>
            <a:ext cx="257175" cy="22860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6983016" y="3230370"/>
            <a:ext cx="173235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数字产品</a:t>
            </a:r>
            <a:endParaRPr lang="en-US" sz="942" dirty="0"/>
          </a:p>
        </p:txBody>
      </p:sp>
      <p:sp>
        <p:nvSpPr>
          <p:cNvPr id="40" name="Text 29"/>
          <p:cNvSpPr/>
          <p:nvPr/>
        </p:nvSpPr>
        <p:spPr>
          <a:xfrm>
            <a:off x="6983016" y="3480402"/>
            <a:ext cx="1732359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高质量数据集、算力和AI算法应用场景</a:t>
            </a:r>
            <a:endParaRPr lang="en-US" sz="73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578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2363" b="1" dirty="0" err="1">
                <a:solidFill>
                  <a:srgbClr val="FFFFFF"/>
                </a:solidFill>
                <a:latin typeface="PingFang SC Semibold" panose="020B0400000000000000" pitchFamily="34" charset="-122"/>
                <a:ea typeface="PingFang SC Semibold" panose="020B0400000000000000" pitchFamily="34" charset="-122"/>
              </a:rPr>
              <a:t>发展规划与里程碑</a:t>
            </a:r>
            <a:endParaRPr lang="en-US" sz="2363" b="1" dirty="0">
              <a:solidFill>
                <a:srgbClr val="FFFFFF"/>
              </a:solidFill>
              <a:latin typeface="PingFang SC Semibold" panose="020B0400000000000000" pitchFamily="34" charset="-122"/>
              <a:ea typeface="PingFang SC Semibold" panose="020B0400000000000000" pitchFamily="34" charset="-122"/>
            </a:endParaRPr>
          </a:p>
        </p:txBody>
      </p:sp>
      <p:sp>
        <p:nvSpPr>
          <p:cNvPr id="4" name="Shape 1"/>
          <p:cNvSpPr/>
          <p:nvPr/>
        </p:nvSpPr>
        <p:spPr>
          <a:xfrm>
            <a:off x="1500188" y="1021556"/>
            <a:ext cx="428625" cy="428625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" name="Text 2"/>
          <p:cNvSpPr/>
          <p:nvPr/>
        </p:nvSpPr>
        <p:spPr>
          <a:xfrm>
            <a:off x="1500188" y="1021556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0.5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85750" y="1557338"/>
            <a:ext cx="2857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启动第一个半年</a:t>
            </a:r>
            <a:endParaRPr lang="en-US" sz="1046" dirty="0"/>
          </a:p>
        </p:txBody>
      </p:sp>
      <p:sp>
        <p:nvSpPr>
          <p:cNvPr id="7" name="Shape 4"/>
          <p:cNvSpPr/>
          <p:nvPr/>
        </p:nvSpPr>
        <p:spPr>
          <a:xfrm>
            <a:off x="357188" y="1878806"/>
            <a:ext cx="2714625" cy="1250156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44" y="2010966"/>
            <a:ext cx="114300" cy="10001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5794" y="1993106"/>
            <a:ext cx="500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真人用户：</a:t>
            </a:r>
            <a:endParaRPr lang="en-US" sz="732" dirty="0"/>
          </a:p>
        </p:txBody>
      </p:sp>
      <p:sp>
        <p:nvSpPr>
          <p:cNvPr id="10" name="Text 6"/>
          <p:cNvSpPr/>
          <p:nvPr/>
        </p:nvSpPr>
        <p:spPr>
          <a:xfrm>
            <a:off x="1135856" y="1993106"/>
            <a:ext cx="25725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1万人</a:t>
            </a:r>
            <a:endParaRPr lang="en-US" sz="732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44" y="2218134"/>
            <a:ext cx="114300" cy="1000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5794" y="2200275"/>
            <a:ext cx="5035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Agent：</a:t>
            </a:r>
            <a:endParaRPr lang="en-US" sz="732" dirty="0"/>
          </a:p>
        </p:txBody>
      </p:sp>
      <p:sp>
        <p:nvSpPr>
          <p:cNvPr id="13" name="Text 8"/>
          <p:cNvSpPr/>
          <p:nvPr/>
        </p:nvSpPr>
        <p:spPr>
          <a:xfrm>
            <a:off x="1139372" y="2200275"/>
            <a:ext cx="31446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10万个</a:t>
            </a:r>
            <a:endParaRPr lang="en-US" sz="732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344" y="2425303"/>
            <a:ext cx="114300" cy="10001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5794" y="2407444"/>
            <a:ext cx="500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算力节点：</a:t>
            </a:r>
            <a:endParaRPr lang="en-US" sz="732" dirty="0"/>
          </a:p>
        </p:txBody>
      </p:sp>
      <p:sp>
        <p:nvSpPr>
          <p:cNvPr id="16" name="Text 10"/>
          <p:cNvSpPr/>
          <p:nvPr/>
        </p:nvSpPr>
        <p:spPr>
          <a:xfrm>
            <a:off x="1135856" y="2407444"/>
            <a:ext cx="2716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500个</a:t>
            </a:r>
            <a:endParaRPr lang="en-US" sz="732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344" y="2632472"/>
            <a:ext cx="114300" cy="10001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35794" y="2614613"/>
            <a:ext cx="6000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场景数据集：</a:t>
            </a:r>
            <a:endParaRPr lang="en-US" sz="732" dirty="0"/>
          </a:p>
        </p:txBody>
      </p:sp>
      <p:sp>
        <p:nvSpPr>
          <p:cNvPr id="19" name="Text 12"/>
          <p:cNvSpPr/>
          <p:nvPr/>
        </p:nvSpPr>
        <p:spPr>
          <a:xfrm>
            <a:off x="1235869" y="2614613"/>
            <a:ext cx="2716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200个</a:t>
            </a:r>
            <a:endParaRPr lang="en-US" sz="732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344" y="2839641"/>
            <a:ext cx="114300" cy="10001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35794" y="2821781"/>
            <a:ext cx="5063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平台GDP：</a:t>
            </a:r>
            <a:endParaRPr lang="en-US" sz="732" dirty="0"/>
          </a:p>
        </p:txBody>
      </p:sp>
      <p:sp>
        <p:nvSpPr>
          <p:cNvPr id="22" name="Text 14"/>
          <p:cNvSpPr/>
          <p:nvPr/>
        </p:nvSpPr>
        <p:spPr>
          <a:xfrm>
            <a:off x="1142163" y="2821781"/>
            <a:ext cx="3288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1000万</a:t>
            </a:r>
            <a:endParaRPr lang="en-US" sz="732" dirty="0"/>
          </a:p>
        </p:txBody>
      </p:sp>
      <p:sp>
        <p:nvSpPr>
          <p:cNvPr id="23" name="Shape 15"/>
          <p:cNvSpPr/>
          <p:nvPr/>
        </p:nvSpPr>
        <p:spPr>
          <a:xfrm>
            <a:off x="4357688" y="1021556"/>
            <a:ext cx="428625" cy="428625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4" name="Text 16"/>
          <p:cNvSpPr/>
          <p:nvPr/>
        </p:nvSpPr>
        <p:spPr>
          <a:xfrm>
            <a:off x="4357688" y="1021556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3143250" y="1557338"/>
            <a:ext cx="2857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启动第2年末</a:t>
            </a:r>
            <a:endParaRPr lang="en-US" sz="1046" dirty="0"/>
          </a:p>
        </p:txBody>
      </p:sp>
      <p:sp>
        <p:nvSpPr>
          <p:cNvPr id="26" name="Shape 18"/>
          <p:cNvSpPr/>
          <p:nvPr/>
        </p:nvSpPr>
        <p:spPr>
          <a:xfrm>
            <a:off x="3214688" y="1878806"/>
            <a:ext cx="2714625" cy="1250156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1844" y="2010966"/>
            <a:ext cx="114300" cy="100013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3493294" y="1993106"/>
            <a:ext cx="500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真人用户：</a:t>
            </a:r>
            <a:endParaRPr lang="en-US" sz="732" dirty="0"/>
          </a:p>
        </p:txBody>
      </p:sp>
      <p:sp>
        <p:nvSpPr>
          <p:cNvPr id="29" name="Text 20"/>
          <p:cNvSpPr/>
          <p:nvPr/>
        </p:nvSpPr>
        <p:spPr>
          <a:xfrm>
            <a:off x="3993356" y="1993106"/>
            <a:ext cx="31446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20万人</a:t>
            </a:r>
            <a:endParaRPr lang="en-US" sz="732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1844" y="2218134"/>
            <a:ext cx="114300" cy="100013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3493294" y="2200275"/>
            <a:ext cx="5035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Agent：</a:t>
            </a:r>
            <a:endParaRPr lang="en-US" sz="732" dirty="0"/>
          </a:p>
        </p:txBody>
      </p:sp>
      <p:sp>
        <p:nvSpPr>
          <p:cNvPr id="32" name="Text 22"/>
          <p:cNvSpPr/>
          <p:nvPr/>
        </p:nvSpPr>
        <p:spPr>
          <a:xfrm>
            <a:off x="3996872" y="2200275"/>
            <a:ext cx="37167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500万个</a:t>
            </a:r>
            <a:endParaRPr lang="en-US" sz="732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1844" y="2425303"/>
            <a:ext cx="114300" cy="100013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3493294" y="2407444"/>
            <a:ext cx="500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算力节点：</a:t>
            </a:r>
            <a:endParaRPr lang="en-US" sz="732" dirty="0"/>
          </a:p>
        </p:txBody>
      </p:sp>
      <p:sp>
        <p:nvSpPr>
          <p:cNvPr id="35" name="Text 24"/>
          <p:cNvSpPr/>
          <p:nvPr/>
        </p:nvSpPr>
        <p:spPr>
          <a:xfrm>
            <a:off x="3993356" y="2407444"/>
            <a:ext cx="3288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2000个</a:t>
            </a:r>
            <a:endParaRPr lang="en-US" sz="732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1844" y="2632472"/>
            <a:ext cx="114300" cy="100013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3493294" y="2614613"/>
            <a:ext cx="6000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场景数据集：</a:t>
            </a:r>
            <a:endParaRPr lang="en-US" sz="732" dirty="0"/>
          </a:p>
        </p:txBody>
      </p:sp>
      <p:sp>
        <p:nvSpPr>
          <p:cNvPr id="38" name="Text 26"/>
          <p:cNvSpPr/>
          <p:nvPr/>
        </p:nvSpPr>
        <p:spPr>
          <a:xfrm>
            <a:off x="4093369" y="2614613"/>
            <a:ext cx="2716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800个</a:t>
            </a:r>
            <a:endParaRPr lang="en-US" sz="732" dirty="0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1844" y="2839641"/>
            <a:ext cx="114300" cy="100013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3493294" y="2821781"/>
            <a:ext cx="5063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平台GDP：</a:t>
            </a:r>
            <a:endParaRPr lang="en-US" sz="732" dirty="0"/>
          </a:p>
        </p:txBody>
      </p:sp>
      <p:sp>
        <p:nvSpPr>
          <p:cNvPr id="41" name="Text 28"/>
          <p:cNvSpPr/>
          <p:nvPr/>
        </p:nvSpPr>
        <p:spPr>
          <a:xfrm>
            <a:off x="3999663" y="2821781"/>
            <a:ext cx="15724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8亿</a:t>
            </a:r>
            <a:endParaRPr lang="en-US" sz="732" dirty="0"/>
          </a:p>
        </p:txBody>
      </p:sp>
      <p:sp>
        <p:nvSpPr>
          <p:cNvPr id="42" name="Shape 29"/>
          <p:cNvSpPr/>
          <p:nvPr/>
        </p:nvSpPr>
        <p:spPr>
          <a:xfrm>
            <a:off x="7215188" y="1021556"/>
            <a:ext cx="428625" cy="428625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3" name="Text 30"/>
          <p:cNvSpPr/>
          <p:nvPr/>
        </p:nvSpPr>
        <p:spPr>
          <a:xfrm>
            <a:off x="7215188" y="1021556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1350" dirty="0"/>
          </a:p>
        </p:txBody>
      </p:sp>
      <p:sp>
        <p:nvSpPr>
          <p:cNvPr id="44" name="Text 31"/>
          <p:cNvSpPr/>
          <p:nvPr/>
        </p:nvSpPr>
        <p:spPr>
          <a:xfrm>
            <a:off x="6000750" y="1557338"/>
            <a:ext cx="2857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启动第5年末</a:t>
            </a:r>
            <a:endParaRPr lang="en-US" sz="1046" dirty="0"/>
          </a:p>
        </p:txBody>
      </p:sp>
      <p:sp>
        <p:nvSpPr>
          <p:cNvPr id="45" name="Shape 32"/>
          <p:cNvSpPr/>
          <p:nvPr/>
        </p:nvSpPr>
        <p:spPr>
          <a:xfrm>
            <a:off x="6072188" y="1878806"/>
            <a:ext cx="2714625" cy="1250156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9344" y="2010966"/>
            <a:ext cx="114300" cy="100013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6350794" y="1993106"/>
            <a:ext cx="500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真人用户：</a:t>
            </a:r>
            <a:endParaRPr lang="en-US" sz="732" dirty="0"/>
          </a:p>
        </p:txBody>
      </p:sp>
      <p:sp>
        <p:nvSpPr>
          <p:cNvPr id="48" name="Text 34"/>
          <p:cNvSpPr/>
          <p:nvPr/>
        </p:nvSpPr>
        <p:spPr>
          <a:xfrm>
            <a:off x="6850856" y="1993106"/>
            <a:ext cx="37167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200万人</a:t>
            </a:r>
            <a:endParaRPr lang="en-US" sz="732" dirty="0"/>
          </a:p>
        </p:txBody>
      </p:sp>
      <p:pic>
        <p:nvPicPr>
          <p:cNvPr id="49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9344" y="2218134"/>
            <a:ext cx="114300" cy="100013"/>
          </a:xfrm>
          <a:prstGeom prst="rect">
            <a:avLst/>
          </a:prstGeom>
        </p:spPr>
      </p:pic>
      <p:sp>
        <p:nvSpPr>
          <p:cNvPr id="50" name="Text 35"/>
          <p:cNvSpPr/>
          <p:nvPr/>
        </p:nvSpPr>
        <p:spPr>
          <a:xfrm>
            <a:off x="6350794" y="2200275"/>
            <a:ext cx="5035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Agent：</a:t>
            </a:r>
            <a:endParaRPr lang="en-US" sz="732" dirty="0"/>
          </a:p>
        </p:txBody>
      </p:sp>
      <p:sp>
        <p:nvSpPr>
          <p:cNvPr id="51" name="Text 36"/>
          <p:cNvSpPr/>
          <p:nvPr/>
        </p:nvSpPr>
        <p:spPr>
          <a:xfrm>
            <a:off x="6854372" y="2200275"/>
            <a:ext cx="42887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2000万个</a:t>
            </a:r>
            <a:endParaRPr lang="en-US" sz="732" dirty="0"/>
          </a:p>
        </p:txBody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9344" y="2425303"/>
            <a:ext cx="114300" cy="100013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6350794" y="2407444"/>
            <a:ext cx="500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算力节点：</a:t>
            </a:r>
            <a:endParaRPr lang="en-US" sz="732" dirty="0"/>
          </a:p>
        </p:txBody>
      </p:sp>
      <p:sp>
        <p:nvSpPr>
          <p:cNvPr id="54" name="Text 38"/>
          <p:cNvSpPr/>
          <p:nvPr/>
        </p:nvSpPr>
        <p:spPr>
          <a:xfrm>
            <a:off x="6850856" y="2407444"/>
            <a:ext cx="3860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10000个</a:t>
            </a:r>
            <a:endParaRPr lang="en-US" sz="732" dirty="0"/>
          </a:p>
        </p:txBody>
      </p:sp>
      <p:pic>
        <p:nvPicPr>
          <p:cNvPr id="55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9344" y="2632472"/>
            <a:ext cx="114300" cy="100013"/>
          </a:xfrm>
          <a:prstGeom prst="rect">
            <a:avLst/>
          </a:prstGeom>
        </p:spPr>
      </p:pic>
      <p:sp>
        <p:nvSpPr>
          <p:cNvPr id="56" name="Text 39"/>
          <p:cNvSpPr/>
          <p:nvPr/>
        </p:nvSpPr>
        <p:spPr>
          <a:xfrm>
            <a:off x="6350794" y="2614613"/>
            <a:ext cx="6000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场景数据集：</a:t>
            </a:r>
            <a:endParaRPr lang="en-US" sz="732" dirty="0"/>
          </a:p>
        </p:txBody>
      </p:sp>
      <p:sp>
        <p:nvSpPr>
          <p:cNvPr id="57" name="Text 40"/>
          <p:cNvSpPr/>
          <p:nvPr/>
        </p:nvSpPr>
        <p:spPr>
          <a:xfrm>
            <a:off x="6950869" y="2614613"/>
            <a:ext cx="322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-</a:t>
            </a:r>
            <a:endParaRPr lang="en-US" sz="732" dirty="0"/>
          </a:p>
        </p:txBody>
      </p:sp>
      <p:pic>
        <p:nvPicPr>
          <p:cNvPr id="58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9344" y="2839641"/>
            <a:ext cx="114300" cy="100013"/>
          </a:xfrm>
          <a:prstGeom prst="rect">
            <a:avLst/>
          </a:prstGeom>
        </p:spPr>
      </p:pic>
      <p:sp>
        <p:nvSpPr>
          <p:cNvPr id="59" name="Text 41"/>
          <p:cNvSpPr/>
          <p:nvPr/>
        </p:nvSpPr>
        <p:spPr>
          <a:xfrm>
            <a:off x="6350794" y="2821781"/>
            <a:ext cx="5063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平台GDP：</a:t>
            </a:r>
            <a:endParaRPr lang="en-US" sz="732" dirty="0"/>
          </a:p>
        </p:txBody>
      </p:sp>
      <p:sp>
        <p:nvSpPr>
          <p:cNvPr id="60" name="Text 42"/>
          <p:cNvSpPr/>
          <p:nvPr/>
        </p:nvSpPr>
        <p:spPr>
          <a:xfrm>
            <a:off x="6857163" y="2821781"/>
            <a:ext cx="2716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100亿</a:t>
            </a:r>
            <a:endParaRPr lang="en-US" sz="732" dirty="0"/>
          </a:p>
        </p:txBody>
      </p:sp>
      <p:pic>
        <p:nvPicPr>
          <p:cNvPr id="61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750" y="3222536"/>
            <a:ext cx="8572500" cy="17859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435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2363" b="1" dirty="0" err="1">
                <a:solidFill>
                  <a:srgbClr val="FFFFFF"/>
                </a:solidFill>
                <a:latin typeface="PingFang SC Semibold" panose="020B0400000000000000" pitchFamily="34" charset="-122"/>
                <a:ea typeface="PingFang SC Semibold" panose="020B0400000000000000" pitchFamily="34" charset="-122"/>
              </a:rPr>
              <a:t>融资需求与资金用途</a:t>
            </a:r>
            <a:endParaRPr lang="en-US" sz="2363" b="1" dirty="0">
              <a:solidFill>
                <a:srgbClr val="FFFFFF"/>
              </a:solidFill>
              <a:latin typeface="PingFang SC Semibold" panose="020B0400000000000000" pitchFamily="34" charset="-122"/>
              <a:ea typeface="PingFang SC Semibold" panose="020B0400000000000000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285750" y="957263"/>
            <a:ext cx="41790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融资目标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85750" y="1357313"/>
            <a:ext cx="4179094" cy="845809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" y="1667703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4381" y="1487090"/>
            <a:ext cx="1869101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r>
              <a:rPr lang="en-US" altLang="zh-CN" sz="1238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</a:t>
            </a:r>
            <a:r>
              <a:rPr lang="en-US" sz="1238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个节点英伟达GPU算力</a:t>
            </a:r>
            <a:endParaRPr lang="en-US" sz="1238" dirty="0"/>
          </a:p>
        </p:txBody>
      </p:sp>
      <p:sp>
        <p:nvSpPr>
          <p:cNvPr id="8" name="Text 4"/>
          <p:cNvSpPr/>
          <p:nvPr/>
        </p:nvSpPr>
        <p:spPr>
          <a:xfrm>
            <a:off x="764381" y="1843460"/>
            <a:ext cx="3593306" cy="144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每个节点配置8张B</a:t>
            </a:r>
            <a:r>
              <a:rPr lang="en-US" altLang="zh-CN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300</a:t>
            </a: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GPU，用于支撑平台AI训练和推理需求</a:t>
            </a:r>
            <a:endParaRPr lang="en-US" sz="942" dirty="0"/>
          </a:p>
        </p:txBody>
      </p:sp>
      <p:sp>
        <p:nvSpPr>
          <p:cNvPr id="9" name="Shape 5"/>
          <p:cNvSpPr/>
          <p:nvPr/>
        </p:nvSpPr>
        <p:spPr>
          <a:xfrm>
            <a:off x="285750" y="2345996"/>
            <a:ext cx="4179094" cy="665792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906" y="2566364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4381" y="2475774"/>
            <a:ext cx="1146148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altLang="zh-CN" sz="1238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</a:t>
            </a:r>
            <a:r>
              <a:rPr lang="en-US" sz="1238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00万启动资金</a:t>
            </a:r>
            <a:endParaRPr lang="en-US" sz="1238" dirty="0"/>
          </a:p>
        </p:txBody>
      </p:sp>
      <p:sp>
        <p:nvSpPr>
          <p:cNvPr id="12" name="Text 7"/>
          <p:cNvSpPr/>
          <p:nvPr/>
        </p:nvSpPr>
        <p:spPr>
          <a:xfrm>
            <a:off x="764381" y="2724615"/>
            <a:ext cx="359330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用于平台初期运营和生态建设</a:t>
            </a:r>
            <a:endParaRPr lang="en-US" sz="942" dirty="0"/>
          </a:p>
        </p:txBody>
      </p:sp>
      <p:sp>
        <p:nvSpPr>
          <p:cNvPr id="13" name="Text 8"/>
          <p:cNvSpPr/>
          <p:nvPr/>
        </p:nvSpPr>
        <p:spPr>
          <a:xfrm>
            <a:off x="285750" y="3226101"/>
            <a:ext cx="41790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投资回报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285750" y="3642224"/>
            <a:ext cx="714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投资人通过</a:t>
            </a:r>
            <a:endParaRPr lang="en-US" sz="1046" dirty="0"/>
          </a:p>
        </p:txBody>
      </p:sp>
      <p:sp>
        <p:nvSpPr>
          <p:cNvPr id="15" name="Text 10"/>
          <p:cNvSpPr/>
          <p:nvPr/>
        </p:nvSpPr>
        <p:spPr>
          <a:xfrm>
            <a:off x="1000125" y="3642224"/>
            <a:ext cx="8572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算力租赁收益</a:t>
            </a:r>
            <a:endParaRPr lang="en-US" sz="1046" dirty="0"/>
          </a:p>
        </p:txBody>
      </p:sp>
      <p:sp>
        <p:nvSpPr>
          <p:cNvPr id="16" name="Text 11"/>
          <p:cNvSpPr/>
          <p:nvPr/>
        </p:nvSpPr>
        <p:spPr>
          <a:xfrm>
            <a:off x="1857375" y="3642224"/>
            <a:ext cx="142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、</a:t>
            </a:r>
            <a:endParaRPr lang="en-US" sz="1046" dirty="0"/>
          </a:p>
        </p:txBody>
      </p:sp>
      <p:sp>
        <p:nvSpPr>
          <p:cNvPr id="17" name="Text 12"/>
          <p:cNvSpPr/>
          <p:nvPr/>
        </p:nvSpPr>
        <p:spPr>
          <a:xfrm>
            <a:off x="2000250" y="3659087"/>
            <a:ext cx="698909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 err="1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股份PE增值</a:t>
            </a:r>
            <a:endParaRPr lang="en-US" sz="1046" dirty="0"/>
          </a:p>
        </p:txBody>
      </p:sp>
      <p:sp>
        <p:nvSpPr>
          <p:cNvPr id="18" name="Text 13"/>
          <p:cNvSpPr/>
          <p:nvPr/>
        </p:nvSpPr>
        <p:spPr>
          <a:xfrm>
            <a:off x="2714625" y="3642224"/>
            <a:ext cx="142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和</a:t>
            </a:r>
            <a:endParaRPr lang="en-US" sz="1046" dirty="0"/>
          </a:p>
        </p:txBody>
      </p:sp>
      <p:sp>
        <p:nvSpPr>
          <p:cNvPr id="19" name="Text 14"/>
          <p:cNvSpPr/>
          <p:nvPr/>
        </p:nvSpPr>
        <p:spPr>
          <a:xfrm>
            <a:off x="2857500" y="3642224"/>
            <a:ext cx="8572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生态价值分享</a:t>
            </a:r>
            <a:endParaRPr lang="en-US" sz="1046" dirty="0"/>
          </a:p>
        </p:txBody>
      </p:sp>
      <p:sp>
        <p:nvSpPr>
          <p:cNvPr id="20" name="Text 15"/>
          <p:cNvSpPr/>
          <p:nvPr/>
        </p:nvSpPr>
        <p:spPr>
          <a:xfrm>
            <a:off x="3714750" y="3642224"/>
            <a:ext cx="714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获得回报，</a:t>
            </a:r>
            <a:endParaRPr lang="en-US" sz="1046" dirty="0"/>
          </a:p>
        </p:txBody>
      </p:sp>
      <p:sp>
        <p:nvSpPr>
          <p:cNvPr id="21" name="Text 16"/>
          <p:cNvSpPr/>
          <p:nvPr/>
        </p:nvSpPr>
        <p:spPr>
          <a:xfrm>
            <a:off x="285750" y="3870824"/>
            <a:ext cx="1285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预计年化收益率超过</a:t>
            </a:r>
            <a:endParaRPr lang="en-US" sz="1046" dirty="0"/>
          </a:p>
        </p:txBody>
      </p:sp>
      <p:sp>
        <p:nvSpPr>
          <p:cNvPr id="22" name="Text 17"/>
          <p:cNvSpPr/>
          <p:nvPr/>
        </p:nvSpPr>
        <p:spPr>
          <a:xfrm>
            <a:off x="1571625" y="3887687"/>
            <a:ext cx="267702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altLang="zh-CN" sz="1046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</a:t>
            </a:r>
            <a:r>
              <a:rPr lang="en-US" sz="1046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%</a:t>
            </a:r>
            <a:endParaRPr lang="en-US" sz="1046" dirty="0"/>
          </a:p>
        </p:txBody>
      </p:sp>
      <p:sp>
        <p:nvSpPr>
          <p:cNvPr id="23" name="Text 18"/>
          <p:cNvSpPr/>
          <p:nvPr/>
        </p:nvSpPr>
        <p:spPr>
          <a:xfrm>
            <a:off x="1856817" y="3870824"/>
            <a:ext cx="142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 </a:t>
            </a:r>
            <a:endParaRPr lang="en-US" sz="1046" dirty="0"/>
          </a:p>
        </p:txBody>
      </p:sp>
      <p:sp>
        <p:nvSpPr>
          <p:cNvPr id="24" name="Text 19"/>
          <p:cNvSpPr/>
          <p:nvPr/>
        </p:nvSpPr>
        <p:spPr>
          <a:xfrm>
            <a:off x="4679156" y="957263"/>
            <a:ext cx="41790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资金用途分配</a:t>
            </a:r>
            <a:endParaRPr lang="en-US" sz="135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9156" y="1357313"/>
            <a:ext cx="4179094" cy="28575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679156" y="4357688"/>
            <a:ext cx="41790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启动资金主要用于初期开发费用、运营人员开支、开展活动开支、裂变人才和合伙人等方面，确保平台稳定运行并快速发展。</a:t>
            </a:r>
            <a:endParaRPr lang="en-US" sz="1046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9078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2363" b="1" dirty="0" err="1">
                <a:solidFill>
                  <a:srgbClr val="FFFFFF"/>
                </a:solidFill>
                <a:latin typeface="PingFang SC Semibold" panose="020B0400000000000000" pitchFamily="34" charset="-122"/>
                <a:ea typeface="PingFang SC Semibold" panose="020B0400000000000000" pitchFamily="34" charset="-122"/>
              </a:rPr>
              <a:t>现有基础与团队</a:t>
            </a:r>
            <a:endParaRPr lang="en-US" sz="2363" b="1" dirty="0">
              <a:solidFill>
                <a:srgbClr val="FFFFFF"/>
              </a:solidFill>
              <a:latin typeface="PingFang SC Semibold" panose="020B0400000000000000" pitchFamily="34" charset="-122"/>
              <a:ea typeface="PingFang SC Semibold" panose="020B0400000000000000" pitchFamily="34" charset="-122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85750" y="593186"/>
            <a:ext cx="4143375" cy="742950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593186"/>
            <a:ext cx="28575" cy="74295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764636"/>
            <a:ext cx="196453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6516" y="736061"/>
            <a:ext cx="571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社区平台 </a:t>
            </a:r>
            <a:endParaRPr lang="en-US" sz="1046" dirty="0"/>
          </a:p>
        </p:txBody>
      </p:sp>
      <p:sp>
        <p:nvSpPr>
          <p:cNvPr id="8" name="Text 4"/>
          <p:cNvSpPr/>
          <p:nvPr/>
        </p:nvSpPr>
        <p:spPr>
          <a:xfrm>
            <a:off x="428625" y="1021811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已建立完善的社区平台，为用户提供交流、协作和知识分享的空间。</a:t>
            </a:r>
            <a:endParaRPr lang="en-US" sz="837" dirty="0"/>
          </a:p>
        </p:txBody>
      </p:sp>
      <p:sp>
        <p:nvSpPr>
          <p:cNvPr id="9" name="Shape 5"/>
          <p:cNvSpPr/>
          <p:nvPr/>
        </p:nvSpPr>
        <p:spPr>
          <a:xfrm>
            <a:off x="285750" y="1479011"/>
            <a:ext cx="4143375" cy="914400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285750" y="1479011"/>
            <a:ext cx="28575" cy="9144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1650461"/>
            <a:ext cx="137517" cy="1571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7580" y="1621886"/>
            <a:ext cx="14346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AI数据标注和训练平台 </a:t>
            </a:r>
            <a:endParaRPr lang="en-US" sz="1046" dirty="0"/>
          </a:p>
        </p:txBody>
      </p:sp>
      <p:sp>
        <p:nvSpPr>
          <p:cNvPr id="13" name="Text 8"/>
          <p:cNvSpPr/>
          <p:nvPr/>
        </p:nvSpPr>
        <p:spPr>
          <a:xfrm>
            <a:off x="428625" y="1907636"/>
            <a:ext cx="3857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具备专业的AI数据标注和模型训练平台，支持高质量数据集的生产和AI模型的优化。</a:t>
            </a:r>
            <a:endParaRPr lang="en-US" sz="837" dirty="0"/>
          </a:p>
        </p:txBody>
      </p:sp>
      <p:sp>
        <p:nvSpPr>
          <p:cNvPr id="14" name="Shape 9"/>
          <p:cNvSpPr/>
          <p:nvPr/>
        </p:nvSpPr>
        <p:spPr>
          <a:xfrm>
            <a:off x="285750" y="2536286"/>
            <a:ext cx="4143375" cy="742950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15" name="Shape 10"/>
          <p:cNvSpPr/>
          <p:nvPr/>
        </p:nvSpPr>
        <p:spPr>
          <a:xfrm>
            <a:off x="285750" y="2536286"/>
            <a:ext cx="28575" cy="74295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2707736"/>
            <a:ext cx="196453" cy="15716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6516" y="2679161"/>
            <a:ext cx="70382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Agent平台 </a:t>
            </a:r>
            <a:endParaRPr lang="en-US" sz="1046" dirty="0"/>
          </a:p>
        </p:txBody>
      </p:sp>
      <p:sp>
        <p:nvSpPr>
          <p:cNvPr id="18" name="Text 12"/>
          <p:cNvSpPr/>
          <p:nvPr/>
        </p:nvSpPr>
        <p:spPr>
          <a:xfrm>
            <a:off x="428625" y="2964911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开发了先进的Agent平台，支持智能代理的创建、部署和管理。</a:t>
            </a:r>
            <a:endParaRPr lang="en-US" sz="837" dirty="0"/>
          </a:p>
        </p:txBody>
      </p:sp>
      <p:sp>
        <p:nvSpPr>
          <p:cNvPr id="19" name="Shape 13"/>
          <p:cNvSpPr/>
          <p:nvPr/>
        </p:nvSpPr>
        <p:spPr>
          <a:xfrm>
            <a:off x="285750" y="3422111"/>
            <a:ext cx="4143375" cy="742950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20" name="Shape 14"/>
          <p:cNvSpPr/>
          <p:nvPr/>
        </p:nvSpPr>
        <p:spPr>
          <a:xfrm>
            <a:off x="285750" y="3422111"/>
            <a:ext cx="28575" cy="74295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3593561"/>
            <a:ext cx="157163" cy="15716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57225" y="3564986"/>
            <a:ext cx="80925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初始B端项目 </a:t>
            </a:r>
            <a:endParaRPr lang="en-US" sz="1046" dirty="0"/>
          </a:p>
        </p:txBody>
      </p:sp>
      <p:sp>
        <p:nvSpPr>
          <p:cNvPr id="23" name="Text 16"/>
          <p:cNvSpPr/>
          <p:nvPr/>
        </p:nvSpPr>
        <p:spPr>
          <a:xfrm>
            <a:off x="428625" y="3850736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已启动多个B端项目，为企业客户提供定制化的AI解决方案。</a:t>
            </a:r>
            <a:endParaRPr lang="en-US" sz="837" dirty="0"/>
          </a:p>
        </p:txBody>
      </p:sp>
      <p:sp>
        <p:nvSpPr>
          <p:cNvPr id="24" name="Shape 17"/>
          <p:cNvSpPr/>
          <p:nvPr/>
        </p:nvSpPr>
        <p:spPr>
          <a:xfrm>
            <a:off x="285750" y="4307936"/>
            <a:ext cx="4143375" cy="742950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25" name="Shape 18"/>
          <p:cNvSpPr/>
          <p:nvPr/>
        </p:nvSpPr>
        <p:spPr>
          <a:xfrm>
            <a:off x="285750" y="4307936"/>
            <a:ext cx="28575" cy="74295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625" y="4479386"/>
            <a:ext cx="196453" cy="15716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6516" y="4450811"/>
            <a:ext cx="15716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政府引导的初始专业人才 </a:t>
            </a:r>
            <a:endParaRPr lang="en-US" sz="1046" dirty="0"/>
          </a:p>
        </p:txBody>
      </p:sp>
      <p:sp>
        <p:nvSpPr>
          <p:cNvPr id="28" name="Text 20"/>
          <p:cNvSpPr/>
          <p:nvPr/>
        </p:nvSpPr>
        <p:spPr>
          <a:xfrm>
            <a:off x="428625" y="4736561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在政府支持下，已引入一批专业人才，为平台发展奠定了坚实基础。</a:t>
            </a:r>
            <a:endParaRPr lang="en-US" sz="837" dirty="0"/>
          </a:p>
        </p:txBody>
      </p:sp>
      <p:sp>
        <p:nvSpPr>
          <p:cNvPr id="29" name="Shape 21"/>
          <p:cNvSpPr/>
          <p:nvPr/>
        </p:nvSpPr>
        <p:spPr>
          <a:xfrm>
            <a:off x="5179219" y="1714500"/>
            <a:ext cx="3214688" cy="3214688"/>
          </a:xfrm>
          <a:prstGeom prst="rect">
            <a:avLst/>
          </a:prstGeom>
          <a:solidFill>
            <a:srgbClr val="12263D"/>
          </a:solidFill>
          <a:ln w="254000">
            <a:gradFill>
              <a:gsLst>
                <a:gs pos="0">
                  <a:srgbClr val="437DF6"/>
                </a:gs>
                <a:gs pos="72000">
                  <a:srgbClr val="4FB261"/>
                </a:gs>
                <a:gs pos="100000">
                  <a:srgbClr val="C78C54"/>
                </a:gs>
              </a:gsLst>
              <a:lin ang="2700000" scaled="0"/>
            </a:gradFill>
          </a:ln>
        </p:spPr>
      </p:sp>
      <p:sp>
        <p:nvSpPr>
          <p:cNvPr id="30" name="Text 22"/>
          <p:cNvSpPr/>
          <p:nvPr/>
        </p:nvSpPr>
        <p:spPr>
          <a:xfrm>
            <a:off x="5179219" y="2479607"/>
            <a:ext cx="321468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文明创世合伙人团队</a:t>
            </a:r>
            <a:endParaRPr lang="en-US" sz="1350" dirty="0"/>
          </a:p>
        </p:txBody>
      </p:sp>
      <p:sp>
        <p:nvSpPr>
          <p:cNvPr id="31" name="Shape 23"/>
          <p:cNvSpPr/>
          <p:nvPr/>
        </p:nvSpPr>
        <p:spPr>
          <a:xfrm>
            <a:off x="5179219" y="2879657"/>
            <a:ext cx="357188" cy="357188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86375" y="2986813"/>
            <a:ext cx="142875" cy="142875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6286500" y="2879657"/>
            <a:ext cx="357188" cy="357188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5797" y="2986813"/>
            <a:ext cx="178594" cy="142875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7393781" y="2879657"/>
            <a:ext cx="357188" cy="357188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00938" y="2986813"/>
            <a:ext cx="142875" cy="142875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5179219" y="3344001"/>
            <a:ext cx="357188" cy="357188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68516" y="3451157"/>
            <a:ext cx="178594" cy="142875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6286500" y="3344001"/>
            <a:ext cx="357188" cy="357188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1516" y="3451157"/>
            <a:ext cx="107156" cy="142875"/>
          </a:xfrm>
          <a:prstGeom prst="rect">
            <a:avLst/>
          </a:prstGeom>
        </p:spPr>
      </p:pic>
      <p:sp>
        <p:nvSpPr>
          <p:cNvPr id="41" name="Shape 28"/>
          <p:cNvSpPr/>
          <p:nvPr/>
        </p:nvSpPr>
        <p:spPr>
          <a:xfrm>
            <a:off x="7393781" y="3344001"/>
            <a:ext cx="357188" cy="357188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00938" y="3451157"/>
            <a:ext cx="142875" cy="142875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5179219" y="3844063"/>
            <a:ext cx="32146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汇聚AI专家、技术工程师、产品经理、运营专家、创新顾问和项目管理专家</a:t>
            </a:r>
            <a:endParaRPr lang="en-US" sz="837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991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2363" b="1" dirty="0" err="1">
                <a:solidFill>
                  <a:srgbClr val="FFFFFF"/>
                </a:solidFill>
                <a:latin typeface="PingFang SC Semibold" panose="020B0400000000000000" pitchFamily="34" charset="-122"/>
                <a:ea typeface="PingFang SC Semibold" panose="020B0400000000000000" pitchFamily="34" charset="-122"/>
              </a:rPr>
              <a:t>平台发展愿景与社会价值</a:t>
            </a:r>
            <a:endParaRPr lang="en-US" sz="2363" b="1" dirty="0">
              <a:solidFill>
                <a:srgbClr val="FFFFFF"/>
              </a:solidFill>
              <a:latin typeface="PingFang SC Semibold" panose="020B0400000000000000" pitchFamily="34" charset="-122"/>
              <a:ea typeface="PingFang SC Semibold" panose="020B0400000000000000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285750" y="1021556"/>
            <a:ext cx="857250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通过平台实现AGI，构建人与AI共生的硅基文明社会，定义未来生产力、生活方式和文明形态。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85750" y="1996894"/>
            <a:ext cx="4179094" cy="1318720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85750" y="1996894"/>
            <a:ext cx="28575" cy="131872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5278" y="2175488"/>
            <a:ext cx="300038" cy="342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32397" y="2625544"/>
            <a:ext cx="6858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赋能个体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46497" y="2954157"/>
            <a:ext cx="36576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提升个人生产力，创造新的就业机会和经济模式，实现个人价值最大化。</a:t>
            </a:r>
            <a:endParaRPr lang="en-US" sz="837" dirty="0"/>
          </a:p>
        </p:txBody>
      </p:sp>
      <p:sp>
        <p:nvSpPr>
          <p:cNvPr id="10" name="Shape 6"/>
          <p:cNvSpPr/>
          <p:nvPr/>
        </p:nvSpPr>
        <p:spPr>
          <a:xfrm>
            <a:off x="4679156" y="1996894"/>
            <a:ext cx="4179094" cy="1318720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4679156" y="1996894"/>
            <a:ext cx="28575" cy="131872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5822" y="2175488"/>
            <a:ext cx="385763" cy="342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54353" y="2625544"/>
            <a:ext cx="10287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驱动产业升级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998309" y="2954157"/>
            <a:ext cx="3540789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为各行业提供AI驱动的创新解决方案，加速数字化转型和智能化发展。</a:t>
            </a:r>
            <a:endParaRPr lang="en-US" sz="837" dirty="0"/>
          </a:p>
        </p:txBody>
      </p:sp>
      <p:sp>
        <p:nvSpPr>
          <p:cNvPr id="15" name="Shape 10"/>
          <p:cNvSpPr/>
          <p:nvPr/>
        </p:nvSpPr>
        <p:spPr>
          <a:xfrm>
            <a:off x="285750" y="3529926"/>
            <a:ext cx="4179094" cy="1318720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16" name="Shape 11"/>
          <p:cNvSpPr/>
          <p:nvPr/>
        </p:nvSpPr>
        <p:spPr>
          <a:xfrm>
            <a:off x="285750" y="3529926"/>
            <a:ext cx="28575" cy="131872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5278" y="3708520"/>
            <a:ext cx="300038" cy="342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860947" y="4158576"/>
            <a:ext cx="10287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推动科技进步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04903" y="4487189"/>
            <a:ext cx="3540789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汇聚全球算力、数据和人才，加速AI技术研发和应用，探索科技前沿。</a:t>
            </a:r>
            <a:endParaRPr lang="en-US" sz="837" dirty="0"/>
          </a:p>
        </p:txBody>
      </p:sp>
      <p:sp>
        <p:nvSpPr>
          <p:cNvPr id="20" name="Shape 14"/>
          <p:cNvSpPr/>
          <p:nvPr/>
        </p:nvSpPr>
        <p:spPr>
          <a:xfrm>
            <a:off x="4679156" y="3529926"/>
            <a:ext cx="4179094" cy="1318720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21" name="Shape 15"/>
          <p:cNvSpPr/>
          <p:nvPr/>
        </p:nvSpPr>
        <p:spPr>
          <a:xfrm>
            <a:off x="4679156" y="3529926"/>
            <a:ext cx="28575" cy="131872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4391" y="3708520"/>
            <a:ext cx="428625" cy="3429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254353" y="4158576"/>
            <a:ext cx="10287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去中心化治理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4998309" y="4487189"/>
            <a:ext cx="3540789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以社区形式实现民主治理，确保AI发展符合人类共同利益和伦理规范。</a:t>
            </a:r>
            <a:endParaRPr lang="en-US" sz="837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039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98551" y="328965"/>
            <a:ext cx="1546897" cy="3636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2363" b="1" dirty="0" err="1">
                <a:solidFill>
                  <a:srgbClr val="FFFFFF"/>
                </a:solidFill>
                <a:latin typeface="PingFang SC Semibold" panose="020B0400000000000000" pitchFamily="34" charset="-122"/>
                <a:ea typeface="PingFang SC Semibold" panose="020B0400000000000000" pitchFamily="34" charset="-122"/>
              </a:rPr>
              <a:t>展望与愿景</a:t>
            </a:r>
            <a:endParaRPr lang="en-US" sz="2363" b="1" dirty="0">
              <a:solidFill>
                <a:srgbClr val="FFFFFF"/>
              </a:solidFill>
              <a:latin typeface="PingFang SC Semibold" panose="020B0400000000000000" pitchFamily="34" charset="-122"/>
              <a:ea typeface="PingFang SC Semibold" panose="020B0400000000000000" pitchFamily="34" charset="-122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85750" y="403718"/>
            <a:ext cx="4143375" cy="1004367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403718"/>
            <a:ext cx="28575" cy="1004367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578740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1513" y="546593"/>
            <a:ext cx="94300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去中心化社区 </a:t>
            </a:r>
            <a:endParaRPr lang="en-US" sz="1238" dirty="0"/>
          </a:p>
        </p:txBody>
      </p:sp>
      <p:sp>
        <p:nvSpPr>
          <p:cNvPr id="8" name="Text 4"/>
          <p:cNvSpPr/>
          <p:nvPr/>
        </p:nvSpPr>
        <p:spPr>
          <a:xfrm>
            <a:off x="428625" y="853775"/>
            <a:ext cx="38576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以去中心化社区的形式运营，实现真正的民主治理和共同决策，让每个参与者都能发挥重要作用。</a:t>
            </a:r>
            <a:endParaRPr lang="en-US" sz="942" dirty="0"/>
          </a:p>
        </p:txBody>
      </p:sp>
      <p:sp>
        <p:nvSpPr>
          <p:cNvPr id="9" name="Shape 5"/>
          <p:cNvSpPr/>
          <p:nvPr/>
        </p:nvSpPr>
        <p:spPr>
          <a:xfrm>
            <a:off x="285750" y="1586679"/>
            <a:ext cx="4143375" cy="1004367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285750" y="1586679"/>
            <a:ext cx="28575" cy="1004367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1761700"/>
            <a:ext cx="214313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4375" y="1729554"/>
            <a:ext cx="79225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人与AI共生 </a:t>
            </a:r>
            <a:endParaRPr lang="en-US" sz="1238" dirty="0"/>
          </a:p>
        </p:txBody>
      </p:sp>
      <p:sp>
        <p:nvSpPr>
          <p:cNvPr id="13" name="Text 8"/>
          <p:cNvSpPr/>
          <p:nvPr/>
        </p:nvSpPr>
        <p:spPr>
          <a:xfrm>
            <a:off x="428625" y="2036735"/>
            <a:ext cx="38576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构建人类与AI和谐共生的生态系统，充分发挥人类创造力和AI计算能力的优势，实现协同发展。</a:t>
            </a:r>
            <a:endParaRPr lang="en-US" sz="942" dirty="0"/>
          </a:p>
        </p:txBody>
      </p:sp>
      <p:sp>
        <p:nvSpPr>
          <p:cNvPr id="14" name="Shape 9"/>
          <p:cNvSpPr/>
          <p:nvPr/>
        </p:nvSpPr>
        <p:spPr>
          <a:xfrm>
            <a:off x="285750" y="2769639"/>
            <a:ext cx="4143375" cy="1004367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15" name="Shape 10"/>
          <p:cNvSpPr/>
          <p:nvPr/>
        </p:nvSpPr>
        <p:spPr>
          <a:xfrm>
            <a:off x="285750" y="2769639"/>
            <a:ext cx="28575" cy="1004367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2944661"/>
            <a:ext cx="171450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1513" y="2912514"/>
            <a:ext cx="58891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实现AGI </a:t>
            </a:r>
            <a:endParaRPr lang="en-US" sz="1238" dirty="0"/>
          </a:p>
        </p:txBody>
      </p:sp>
      <p:sp>
        <p:nvSpPr>
          <p:cNvPr id="18" name="Text 12"/>
          <p:cNvSpPr/>
          <p:nvPr/>
        </p:nvSpPr>
        <p:spPr>
          <a:xfrm>
            <a:off x="428625" y="3219695"/>
            <a:ext cx="38576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通过平台的持续发展和技术创新，推动人工通用智能（AGI）的实现，开启智能时代的新篇章。</a:t>
            </a:r>
            <a:endParaRPr lang="en-US" sz="942" dirty="0"/>
          </a:p>
        </p:txBody>
      </p:sp>
      <p:sp>
        <p:nvSpPr>
          <p:cNvPr id="19" name="Shape 13"/>
          <p:cNvSpPr/>
          <p:nvPr/>
        </p:nvSpPr>
        <p:spPr>
          <a:xfrm>
            <a:off x="285750" y="3952599"/>
            <a:ext cx="4143375" cy="1004367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20" name="Shape 14"/>
          <p:cNvSpPr/>
          <p:nvPr/>
        </p:nvSpPr>
        <p:spPr>
          <a:xfrm>
            <a:off x="285750" y="3952599"/>
            <a:ext cx="28575" cy="1004367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4127621"/>
            <a:ext cx="214313" cy="1714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4375" y="4095474"/>
            <a:ext cx="94300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59E0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硅基文明社会 </a:t>
            </a:r>
            <a:endParaRPr lang="en-US" sz="1238" dirty="0"/>
          </a:p>
        </p:txBody>
      </p:sp>
      <p:sp>
        <p:nvSpPr>
          <p:cNvPr id="23" name="Text 16"/>
          <p:cNvSpPr/>
          <p:nvPr/>
        </p:nvSpPr>
        <p:spPr>
          <a:xfrm>
            <a:off x="428625" y="4402656"/>
            <a:ext cx="38576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最终目标是构建一个全新的硅基文明社会，在这个社会中，数字化和智能化将成为文明发展的核心驱动力。</a:t>
            </a:r>
            <a:endParaRPr lang="en-US" sz="942" dirty="0"/>
          </a:p>
        </p:txBody>
      </p:sp>
      <p:sp>
        <p:nvSpPr>
          <p:cNvPr id="24" name="Shape 17"/>
          <p:cNvSpPr/>
          <p:nvPr/>
        </p:nvSpPr>
        <p:spPr>
          <a:xfrm>
            <a:off x="5357813" y="1958727"/>
            <a:ext cx="2857500" cy="2857500"/>
          </a:xfrm>
          <a:prstGeom prst="ellipse">
            <a:avLst/>
          </a:prstGeom>
          <a:gradFill flip="none" rotWithShape="1">
            <a:gsLst>
              <a:gs pos="12000">
                <a:srgbClr val="1B213F"/>
              </a:gs>
              <a:gs pos="45000">
                <a:srgbClr val="12263D">
                  <a:lumMod val="100000"/>
                  <a:lumOff val="0"/>
                </a:srgbClr>
              </a:gs>
              <a:gs pos="100000">
                <a:srgbClr val="182A2E"/>
              </a:gs>
            </a:gsLst>
            <a:lin ang="2700000" scaled="1"/>
            <a:tileRect/>
          </a:gradFill>
          <a:ln w="387350">
            <a:gradFill flip="none" rotWithShape="1">
              <a:gsLst>
                <a:gs pos="0">
                  <a:srgbClr val="FFC000">
                    <a:lumMod val="96000"/>
                  </a:srgbClr>
                </a:gs>
                <a:gs pos="74000">
                  <a:srgbClr val="22A0B5"/>
                </a:gs>
                <a:gs pos="41000">
                  <a:srgbClr val="4FB261"/>
                </a:gs>
                <a:gs pos="100000">
                  <a:srgbClr val="437DF6">
                    <a:lumMod val="80455"/>
                    <a:lumOff val="19545"/>
                  </a:srgbClr>
                </a:gs>
              </a:gsLst>
              <a:lin ang="16200000" scaled="0"/>
              <a:tileRect/>
            </a:gradFill>
          </a:ln>
        </p:spPr>
      </p:sp>
      <p:sp>
        <p:nvSpPr>
          <p:cNvPr id="25" name="Text 18"/>
          <p:cNvSpPr/>
          <p:nvPr/>
        </p:nvSpPr>
        <p:spPr>
          <a:xfrm>
            <a:off x="6273603" y="2816234"/>
            <a:ext cx="1025922" cy="2423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575" b="1" dirty="0" err="1">
                <a:solidFill>
                  <a:srgbClr val="F59E1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AI硅基文明</a:t>
            </a:r>
            <a:endParaRPr lang="en-US" sz="1575" dirty="0">
              <a:solidFill>
                <a:srgbClr val="F59E1B"/>
              </a:solidFill>
            </a:endParaRPr>
          </a:p>
        </p:txBody>
      </p:sp>
      <p:sp>
        <p:nvSpPr>
          <p:cNvPr id="26" name="Text 19"/>
          <p:cNvSpPr/>
          <p:nvPr/>
        </p:nvSpPr>
        <p:spPr>
          <a:xfrm>
            <a:off x="6481191" y="3218548"/>
            <a:ext cx="610744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人与AI共生</a:t>
            </a:r>
            <a:endParaRPr lang="en-US" sz="942" b="1" dirty="0"/>
          </a:p>
        </p:txBody>
      </p:sp>
      <p:sp>
        <p:nvSpPr>
          <p:cNvPr id="27" name="Text 20"/>
          <p:cNvSpPr/>
          <p:nvPr/>
        </p:nvSpPr>
        <p:spPr>
          <a:xfrm>
            <a:off x="6386513" y="3458914"/>
            <a:ext cx="8001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942" b="1" dirty="0" err="1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智能驱动未来</a:t>
            </a:r>
            <a:endParaRPr lang="en-US" sz="942" b="1" dirty="0">
              <a:solidFill>
                <a:srgbClr val="FFFFFF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6386513" y="3723233"/>
            <a:ext cx="8001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942" b="1" dirty="0" err="1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定义新世界</a:t>
            </a:r>
            <a:endParaRPr lang="en-US" sz="942" b="1" dirty="0">
              <a:solidFill>
                <a:srgbClr val="FFFFFF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2263D"/>
        </a:solidFill>
        <a:ln w="76200">
          <a:solidFill>
            <a:srgbClr val="437DF6"/>
          </a:solidFill>
        </a:ln>
      </a:spPr>
      <a:bodyPr/>
      <a:lstStyle/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800</Words>
  <Application>Microsoft Macintosh PowerPoint</Application>
  <PresentationFormat>全屏显示(16:9)</PresentationFormat>
  <Paragraphs>240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等线</vt:lpstr>
      <vt:lpstr>PingFang SC Medium</vt:lpstr>
      <vt:lpstr>PingFang SC Medium</vt:lpstr>
      <vt:lpstr>PingFang SC Semibold</vt:lpstr>
      <vt:lpstr>Arial</vt:lpstr>
      <vt:lpstr>Calibri</vt:lpstr>
      <vt:lpstr>Noto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军 古</cp:lastModifiedBy>
  <cp:revision>7</cp:revision>
  <dcterms:created xsi:type="dcterms:W3CDTF">2025-09-14T17:15:29Z</dcterms:created>
  <dcterms:modified xsi:type="dcterms:W3CDTF">2025-12-15T11:54:17Z</dcterms:modified>
</cp:coreProperties>
</file>